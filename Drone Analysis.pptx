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7"/>
  </p:notesMasterIdLst>
  <p:sldIdLst>
    <p:sldId id="256" r:id="rId3"/>
    <p:sldId id="260" r:id="rId4"/>
    <p:sldId id="267" r:id="rId5"/>
    <p:sldId id="268" r:id="rId6"/>
    <p:sldId id="266" r:id="rId7"/>
    <p:sldId id="265" r:id="rId8"/>
    <p:sldId id="264" r:id="rId9"/>
    <p:sldId id="263" r:id="rId10"/>
    <p:sldId id="261" r:id="rId11"/>
    <p:sldId id="262" r:id="rId12"/>
    <p:sldId id="269" r:id="rId13"/>
    <p:sldId id="270" r:id="rId14"/>
    <p:sldId id="271"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387087-8DDE-415F-AF60-37AB06F47FAE}" type="datetimeFigureOut">
              <a:rPr lang="en-IN" smtClean="0"/>
              <a:t>07-11-2025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AB3140-5D52-438D-ACB2-E436E823275D}" type="slidenum">
              <a:rPr lang="en-IN" smtClean="0"/>
              <a:t>‹#›</a:t>
            </a:fld>
            <a:endParaRPr lang="en-IN"/>
          </a:p>
        </p:txBody>
      </p:sp>
    </p:spTree>
    <p:extLst>
      <p:ext uri="{BB962C8B-B14F-4D97-AF65-F5344CB8AC3E}">
        <p14:creationId xmlns:p14="http://schemas.microsoft.com/office/powerpoint/2010/main" val="1148561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AB3140-5D52-438D-ACB2-E436E823275D}" type="slidenum">
              <a:rPr lang="en-IN" smtClean="0"/>
              <a:t>11</a:t>
            </a:fld>
            <a:endParaRPr lang="en-IN"/>
          </a:p>
        </p:txBody>
      </p:sp>
    </p:spTree>
    <p:extLst>
      <p:ext uri="{BB962C8B-B14F-4D97-AF65-F5344CB8AC3E}">
        <p14:creationId xmlns:p14="http://schemas.microsoft.com/office/powerpoint/2010/main" val="3119190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7C7C543-D1F4-45B8-AA51-F07846222419}"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7C7C543-D1F4-45B8-AA51-F07846222419}" type="datetimeFigureOut">
              <a:rPr lang="en-IN" smtClean="0"/>
              <a:t>07-11-2025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7C7C543-D1F4-45B8-AA51-F07846222419}" type="datetimeFigureOut">
              <a:rPr lang="en-IN" smtClean="0"/>
              <a:t>07-11-2025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C7C543-D1F4-45B8-AA51-F07846222419}" type="datetimeFigureOut">
              <a:rPr lang="en-IN" smtClean="0"/>
              <a:t>07-11-2025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C7C543-D1F4-45B8-AA51-F07846222419}"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C7C543-D1F4-45B8-AA51-F07846222419}"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7C7C543-D1F4-45B8-AA51-F07846222419}"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7C7C543-D1F4-45B8-AA51-F07846222419}" type="datetimeFigureOut">
              <a:rPr lang="en-IN" smtClean="0"/>
              <a:t>07-11-2025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7C7C543-D1F4-45B8-AA51-F07846222419}" type="datetimeFigureOut">
              <a:rPr lang="en-IN" smtClean="0"/>
              <a:t>07-11-2025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C7C543-D1F4-45B8-AA51-F07846222419}" type="datetimeFigureOut">
              <a:rPr lang="en-IN" smtClean="0"/>
              <a:t>07-11-2025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C7C543-D1F4-45B8-AA51-F07846222419}"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C7C543-D1F4-45B8-AA51-F07846222419}"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C7C543-D1F4-45B8-AA51-F07846222419}"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19EE1D-6B9D-45E7-A374-7CCDFB77C8B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C7C543-D1F4-45B8-AA51-F07846222419}" type="datetimeFigureOut">
              <a:rPr lang="en-IN" smtClean="0"/>
              <a:t>07-11-2025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19EE1D-6B9D-45E7-A374-7CCDFB77C8B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C7C543-D1F4-45B8-AA51-F07846222419}" type="datetimeFigureOut">
              <a:rPr lang="en-IN" smtClean="0"/>
              <a:t>07-11-2025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19EE1D-6B9D-45E7-A374-7CCDFB77C8B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880851" y="3681785"/>
            <a:ext cx="6174658" cy="583565"/>
          </a:xfrm>
          <a:prstGeom prst="rect">
            <a:avLst/>
          </a:prstGeom>
          <a:noFill/>
        </p:spPr>
        <p:txBody>
          <a:bodyPr wrap="square">
            <a:spAutoFit/>
          </a:bodyPr>
          <a:lstStyle/>
          <a:p>
            <a:pPr algn="ctr" rtl="0">
              <a:buNone/>
            </a:pPr>
            <a:r>
              <a:rPr lang="en-US" altLang="en-IN" sz="3200" b="1" i="0" u="none" strike="noStrike" dirty="0">
                <a:solidFill>
                  <a:srgbClr val="000000"/>
                </a:solidFill>
                <a:effectLst/>
                <a:latin typeface="Times New Roman" panose="02020603050405020304" pitchFamily="18" charset="0"/>
                <a:cs typeface="Times New Roman" panose="02020603050405020304" pitchFamily="18" charset="0"/>
              </a:rPr>
              <a:t>Drone Analysis</a:t>
            </a:r>
          </a:p>
        </p:txBody>
      </p:sp>
      <p:sp>
        <p:nvSpPr>
          <p:cNvPr id="2" name="Text Box 1"/>
          <p:cNvSpPr txBox="1"/>
          <p:nvPr/>
        </p:nvSpPr>
        <p:spPr>
          <a:xfrm>
            <a:off x="7448550" y="4580890"/>
            <a:ext cx="4064000" cy="1198880"/>
          </a:xfrm>
          <a:prstGeom prst="rect">
            <a:avLst/>
          </a:prstGeom>
          <a:noFill/>
        </p:spPr>
        <p:txBody>
          <a:bodyPr wrap="square" rtlCol="0">
            <a:spAutoFit/>
          </a:bodyPr>
          <a:lstStyle/>
          <a:p>
            <a:pPr algn="l"/>
            <a:r>
              <a:rPr lang="en-US" sz="2400" dirty="0">
                <a:latin typeface="Times New Roman" panose="02020603050405020304" pitchFamily="18" charset="0"/>
                <a:cs typeface="Times New Roman" panose="02020603050405020304" pitchFamily="18" charset="0"/>
              </a:rPr>
              <a:t>E. Venkata Durga Rao</a:t>
            </a:r>
          </a:p>
          <a:p>
            <a:pPr algn="l"/>
            <a:r>
              <a:rPr lang="en-US" sz="2400" dirty="0">
                <a:latin typeface="Times New Roman" panose="02020603050405020304" pitchFamily="18" charset="0"/>
                <a:cs typeface="Times New Roman" panose="02020603050405020304" pitchFamily="18" charset="0"/>
              </a:rPr>
              <a:t>P . Goutham</a:t>
            </a:r>
          </a:p>
          <a:p>
            <a:pPr algn="l"/>
            <a:r>
              <a:rPr lang="en-US" sz="2400" dirty="0">
                <a:latin typeface="Times New Roman" panose="02020603050405020304" pitchFamily="18" charset="0"/>
                <a:cs typeface="Times New Roman" panose="02020603050405020304" pitchFamily="18" charset="0"/>
              </a:rPr>
              <a:t>M. Rajesh Goud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sp>
        <p:nvSpPr>
          <p:cNvPr id="4" name="TextBox 3"/>
          <p:cNvSpPr txBox="1"/>
          <p:nvPr/>
        </p:nvSpPr>
        <p:spPr>
          <a:xfrm>
            <a:off x="1949450" y="80645"/>
            <a:ext cx="7194550" cy="706755"/>
          </a:xfrm>
          <a:prstGeom prst="rect">
            <a:avLst/>
          </a:prstGeom>
          <a:noFill/>
        </p:spPr>
        <p:txBody>
          <a:bodyPr wrap="square">
            <a:spAutoFit/>
          </a:bodyPr>
          <a:lstStyle/>
          <a:p>
            <a:pPr algn="ctr" rtl="0" fontAlgn="base">
              <a:spcBef>
                <a:spcPts val="1000"/>
              </a:spcBef>
            </a:pPr>
            <a:r>
              <a:rPr lang="en-US" sz="4000" b="1" i="0" u="sng" strike="noStrike" dirty="0">
                <a:solidFill>
                  <a:srgbClr val="FF0000"/>
                </a:solidFill>
                <a:effectLst/>
                <a:latin typeface="Times New Roman" panose="02020603050405020304" pitchFamily="18" charset="0"/>
                <a:cs typeface="Times New Roman" panose="02020603050405020304" pitchFamily="18" charset="0"/>
              </a:rPr>
              <a:t>Exploratory Data Analysis: </a:t>
            </a:r>
            <a:endParaRPr lang="en-US" sz="4000" b="1" i="0" u="none" strike="noStrike" dirty="0">
              <a:solidFill>
                <a:srgbClr val="FF0000"/>
              </a:solidFill>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298000" y="851654"/>
            <a:ext cx="6096000" cy="645160"/>
          </a:xfrm>
          <a:prstGeom prst="rect">
            <a:avLst/>
          </a:prstGeom>
          <a:noFill/>
        </p:spPr>
        <p:txBody>
          <a:bodyPr wrap="square">
            <a:spAutoFit/>
          </a:bodyPr>
          <a:lstStyle/>
          <a:p>
            <a:pPr algn="just" rtl="0" fontAlgn="base">
              <a:spcBef>
                <a:spcPts val="1000"/>
              </a:spcBef>
              <a:buFont typeface="+mj-lt"/>
              <a:buAutoNum type="arabicPeriod"/>
            </a:pPr>
            <a:r>
              <a:rPr lang="en-US" sz="3600" b="1" u="none" strike="noStrike" dirty="0">
                <a:solidFill>
                  <a:srgbClr val="000000"/>
                </a:solidFill>
                <a:effectLst/>
                <a:latin typeface="Times New Roman" panose="02020603050405020304" pitchFamily="18" charset="0"/>
                <a:cs typeface="Times New Roman" panose="02020603050405020304" pitchFamily="18" charset="0"/>
              </a:rPr>
              <a:t>Data Cleaning Steps </a:t>
            </a:r>
            <a:r>
              <a:rPr lang="en-US" sz="2400" b="1" u="none" strike="noStrike" dirty="0">
                <a:solidFill>
                  <a:srgbClr val="000000"/>
                </a:solidFill>
                <a:effectLst/>
                <a:latin typeface="Times New Roman" panose="02020603050405020304" pitchFamily="18" charset="0"/>
                <a:cs typeface="Times New Roman" panose="02020603050405020304" pitchFamily="18" charset="0"/>
              </a:rPr>
              <a:t> </a:t>
            </a:r>
          </a:p>
        </p:txBody>
      </p:sp>
      <p:sp>
        <p:nvSpPr>
          <p:cNvPr id="8" name="TextBox 7"/>
          <p:cNvSpPr txBox="1"/>
          <p:nvPr/>
        </p:nvSpPr>
        <p:spPr>
          <a:xfrm>
            <a:off x="493395" y="1560830"/>
            <a:ext cx="10127615" cy="4831080"/>
          </a:xfrm>
          <a:prstGeom prst="rect">
            <a:avLst/>
          </a:prstGeom>
          <a:noFill/>
        </p:spPr>
        <p:txBody>
          <a:bodyPr wrap="square">
            <a:spAutoFit/>
          </a:bodyPr>
          <a:lstStyle/>
          <a:p>
            <a:pPr indent="0">
              <a:buFont typeface="Arial" panose="020B0604020202020204" pitchFamily="34" charset="0"/>
              <a:buNone/>
            </a:pPr>
            <a:r>
              <a:rPr sz="2800">
                <a:latin typeface="Times New Roman" panose="02020603050405020304" pitchFamily="18" charset="0"/>
                <a:cs typeface="Times New Roman" panose="02020603050405020304" pitchFamily="18" charset="0"/>
                <a:sym typeface="+mn-ea"/>
              </a:rPr>
              <a:t>1. Loaded the dataset using Pandas (576 rows × 9 columns).</a:t>
            </a:r>
          </a:p>
          <a:p>
            <a:pPr indent="0">
              <a:buFont typeface="Arial" panose="020B0604020202020204" pitchFamily="34" charset="0"/>
              <a:buNone/>
            </a:pPr>
            <a:r>
              <a:rPr sz="2800">
                <a:latin typeface="Times New Roman" panose="02020603050405020304" pitchFamily="18" charset="0"/>
                <a:cs typeface="Times New Roman" panose="02020603050405020304" pitchFamily="18" charset="0"/>
                <a:sym typeface="+mn-ea"/>
              </a:rPr>
              <a:t>2. Checked dataset structure using info(), head(), and dtypes.</a:t>
            </a:r>
          </a:p>
          <a:p>
            <a:pPr indent="0">
              <a:buFont typeface="Arial" panose="020B0604020202020204" pitchFamily="34" charset="0"/>
              <a:buNone/>
            </a:pPr>
            <a:r>
              <a:rPr sz="2800">
                <a:latin typeface="Times New Roman" panose="02020603050405020304" pitchFamily="18" charset="0"/>
                <a:cs typeface="Times New Roman" panose="02020603050405020304" pitchFamily="18" charset="0"/>
                <a:sym typeface="+mn-ea"/>
              </a:rPr>
              <a:t>3. Identified missing and inconsistent data using isnull().sum().</a:t>
            </a:r>
          </a:p>
          <a:p>
            <a:pPr indent="0">
              <a:buFont typeface="Arial" panose="020B0604020202020204" pitchFamily="34" charset="0"/>
              <a:buNone/>
            </a:pPr>
            <a:r>
              <a:rPr sz="2800">
                <a:latin typeface="Times New Roman" panose="02020603050405020304" pitchFamily="18" charset="0"/>
                <a:cs typeface="Times New Roman" panose="02020603050405020304" pitchFamily="18" charset="0"/>
                <a:sym typeface="+mn-ea"/>
              </a:rPr>
              <a:t>4. Cleaned the 'Price' column by removing commas and converting to numeric.</a:t>
            </a:r>
          </a:p>
          <a:p>
            <a:pPr indent="0">
              <a:buFont typeface="Arial" panose="020B0604020202020204" pitchFamily="34" charset="0"/>
              <a:buNone/>
            </a:pPr>
            <a:r>
              <a:rPr sz="2800">
                <a:latin typeface="Times New Roman" panose="02020603050405020304" pitchFamily="18" charset="0"/>
                <a:cs typeface="Times New Roman" panose="02020603050405020304" pitchFamily="18" charset="0"/>
                <a:sym typeface="+mn-ea"/>
              </a:rPr>
              <a:t>5. Replaced missing values using mode (categorical) and mean (numerical).</a:t>
            </a:r>
          </a:p>
          <a:p>
            <a:pPr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sym typeface="+mn-ea"/>
              </a:rPr>
              <a:t>6. Dropped 'Power Consumption' column due to excessive null values.</a:t>
            </a:r>
            <a:endParaRPr lang="en-US" altLang="en-US" sz="280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sym typeface="+mn-ea"/>
              </a:rPr>
              <a:t>7. Rechecked dataset to ensure all missing values were handled.</a:t>
            </a:r>
            <a:endParaRPr lang="en-US" altLang="en-US" sz="280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sym typeface="+mn-ea"/>
              </a:rPr>
              <a:t>8. Prepared cleaned dataset for Data Manipulation.</a:t>
            </a:r>
            <a:endParaRPr lang="en-US" sz="28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sp>
        <p:nvSpPr>
          <p:cNvPr id="3" name="Text Box 2"/>
          <p:cNvSpPr txBox="1"/>
          <p:nvPr/>
        </p:nvSpPr>
        <p:spPr>
          <a:xfrm>
            <a:off x="508635" y="1345565"/>
            <a:ext cx="10648315" cy="4752975"/>
          </a:xfrm>
          <a:prstGeom prst="rect">
            <a:avLst/>
          </a:prstGeom>
          <a:noFill/>
        </p:spPr>
        <p:txBody>
          <a:bodyPr wrap="square" rtlCol="0" anchor="t">
            <a:noAutofit/>
          </a:bodyPr>
          <a:lstStyle/>
          <a:p>
            <a:r>
              <a:rPr sz="3200">
                <a:sym typeface="+mn-ea"/>
              </a:rPr>
              <a:t>1. Converted 'Weight' units (kg → g) and created a new column 'Weight (g)'.</a:t>
            </a:r>
          </a:p>
          <a:p>
            <a:r>
              <a:rPr sz="3200">
                <a:sym typeface="+mn-ea"/>
              </a:rPr>
              <a:t>2. Converted 'Control Range' (</a:t>
            </a:r>
            <a:r>
              <a:rPr lang="en-US" sz="3200">
                <a:sym typeface="+mn-ea"/>
              </a:rPr>
              <a:t>ft</a:t>
            </a:r>
            <a:r>
              <a:rPr sz="3200">
                <a:sym typeface="+mn-ea"/>
              </a:rPr>
              <a:t>→ </a:t>
            </a:r>
            <a:r>
              <a:rPr lang="en-US" sz="3200">
                <a:sym typeface="+mn-ea"/>
              </a:rPr>
              <a:t>m</a:t>
            </a:r>
            <a:r>
              <a:rPr sz="3200">
                <a:sym typeface="+mn-ea"/>
              </a:rPr>
              <a:t>)</a:t>
            </a:r>
            <a:r>
              <a:rPr lang="en-US" sz="3200">
                <a:sym typeface="+mn-ea"/>
              </a:rPr>
              <a:t> converted </a:t>
            </a:r>
            <a:r>
              <a:rPr sz="3200">
                <a:sym typeface="+mn-ea"/>
              </a:rPr>
              <a:t>values to meters and created</a:t>
            </a:r>
            <a:r>
              <a:rPr lang="en-US" sz="3200">
                <a:sym typeface="+mn-ea"/>
              </a:rPr>
              <a:t> </a:t>
            </a:r>
            <a:r>
              <a:rPr sz="3200">
                <a:sym typeface="+mn-ea"/>
              </a:rPr>
              <a:t>a new column 'Range (m)'.</a:t>
            </a:r>
          </a:p>
          <a:p>
            <a:r>
              <a:rPr sz="3200">
                <a:sym typeface="+mn-ea"/>
              </a:rPr>
              <a:t>3. Removed redundant columns ('Weight', 'Control Range', 'Power Consumption').</a:t>
            </a:r>
          </a:p>
          <a:p>
            <a:r>
              <a:rPr sz="3200">
                <a:sym typeface="+mn-ea"/>
              </a:rPr>
              <a:t>4. Converted all numerical columns to float type.</a:t>
            </a:r>
          </a:p>
          <a:p>
            <a:r>
              <a:rPr sz="3200">
                <a:sym typeface="+mn-ea"/>
              </a:rPr>
              <a:t>5. Verified final dataset using info() for data types and nulls.</a:t>
            </a:r>
            <a:endParaRPr lang="en-US" altLang="en-US" sz="3200"/>
          </a:p>
        </p:txBody>
      </p:sp>
      <p:sp>
        <p:nvSpPr>
          <p:cNvPr id="4" name="Text Box 3"/>
          <p:cNvSpPr txBox="1"/>
          <p:nvPr/>
        </p:nvSpPr>
        <p:spPr>
          <a:xfrm>
            <a:off x="347345" y="541020"/>
            <a:ext cx="6096000" cy="645160"/>
          </a:xfrm>
          <a:prstGeom prst="rect">
            <a:avLst/>
          </a:prstGeom>
          <a:noFill/>
        </p:spPr>
        <p:txBody>
          <a:bodyPr wrap="square" rtlCol="0" anchor="t">
            <a:spAutoFit/>
          </a:bodyPr>
          <a:lstStyle/>
          <a:p>
            <a:pPr algn="just" rtl="0" fontAlgn="base">
              <a:spcBef>
                <a:spcPts val="1000"/>
              </a:spcBef>
            </a:pPr>
            <a:r>
              <a:rPr lang="en-US" sz="3600" b="1" dirty="0">
                <a:solidFill>
                  <a:srgbClr val="000000"/>
                </a:solidFill>
                <a:effectLst/>
                <a:latin typeface="Times New Roman" panose="02020603050405020304" pitchFamily="18" charset="0"/>
                <a:cs typeface="Times New Roman" panose="02020603050405020304" pitchFamily="18" charset="0"/>
                <a:sym typeface="+mn-ea"/>
              </a:rPr>
              <a:t>2.Data Manipulation Steps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sp>
        <p:nvSpPr>
          <p:cNvPr id="3" name="Text Box 2"/>
          <p:cNvSpPr txBox="1"/>
          <p:nvPr/>
        </p:nvSpPr>
        <p:spPr>
          <a:xfrm>
            <a:off x="508635" y="1345565"/>
            <a:ext cx="10648315" cy="4752975"/>
          </a:xfrm>
          <a:prstGeom prst="rect">
            <a:avLst/>
          </a:prstGeom>
          <a:noFill/>
        </p:spPr>
        <p:txBody>
          <a:bodyPr wrap="square" rtlCol="0" anchor="t">
            <a:noAutofit/>
          </a:bodyPr>
          <a:lstStyle/>
          <a:p>
            <a:r>
              <a:rPr sz="2800">
                <a:latin typeface="Times New Roman" panose="02020603050405020304" pitchFamily="18" charset="0"/>
                <a:cs typeface="Times New Roman" panose="02020603050405020304" pitchFamily="18" charset="0"/>
                <a:sym typeface="+mn-ea"/>
              </a:rPr>
              <a:t>• All missing values handled appropriately.</a:t>
            </a:r>
          </a:p>
          <a:p>
            <a:endParaRPr sz="2800">
              <a:latin typeface="Times New Roman" panose="02020603050405020304" pitchFamily="18" charset="0"/>
              <a:cs typeface="Times New Roman" panose="02020603050405020304" pitchFamily="18" charset="0"/>
              <a:sym typeface="+mn-ea"/>
            </a:endParaRPr>
          </a:p>
          <a:p>
            <a:r>
              <a:rPr sz="2800">
                <a:latin typeface="Times New Roman" panose="02020603050405020304" pitchFamily="18" charset="0"/>
                <a:cs typeface="Times New Roman" panose="02020603050405020304" pitchFamily="18" charset="0"/>
                <a:sym typeface="+mn-ea"/>
              </a:rPr>
              <a:t>• Data types standardized for analysis.</a:t>
            </a:r>
          </a:p>
          <a:p>
            <a:endParaRPr sz="2800">
              <a:latin typeface="Times New Roman" panose="02020603050405020304" pitchFamily="18" charset="0"/>
              <a:cs typeface="Times New Roman" panose="02020603050405020304" pitchFamily="18" charset="0"/>
              <a:sym typeface="+mn-ea"/>
            </a:endParaRPr>
          </a:p>
          <a:p>
            <a:r>
              <a:rPr sz="2800">
                <a:latin typeface="Times New Roman" panose="02020603050405020304" pitchFamily="18" charset="0"/>
                <a:cs typeface="Times New Roman" panose="02020603050405020304" pitchFamily="18" charset="0"/>
                <a:sym typeface="+mn-ea"/>
              </a:rPr>
              <a:t>• Units converted for uniformity.</a:t>
            </a:r>
          </a:p>
          <a:p>
            <a:endParaRPr sz="2800">
              <a:latin typeface="Times New Roman" panose="02020603050405020304" pitchFamily="18" charset="0"/>
              <a:cs typeface="Times New Roman" panose="02020603050405020304" pitchFamily="18" charset="0"/>
              <a:sym typeface="+mn-ea"/>
            </a:endParaRPr>
          </a:p>
          <a:p>
            <a:r>
              <a:rPr sz="2800">
                <a:latin typeface="Times New Roman" panose="02020603050405020304" pitchFamily="18" charset="0"/>
                <a:cs typeface="Times New Roman" panose="02020603050405020304" pitchFamily="18" charset="0"/>
                <a:sym typeface="+mn-ea"/>
              </a:rPr>
              <a:t>• Dataset ready for Exploratory Data Analysis (EDA) and visualization.</a:t>
            </a:r>
          </a:p>
          <a:p>
            <a:endParaRPr sz="2800">
              <a:latin typeface="Times New Roman" panose="02020603050405020304" pitchFamily="18" charset="0"/>
              <a:cs typeface="Times New Roman" panose="02020603050405020304" pitchFamily="18" charset="0"/>
              <a:sym typeface="+mn-ea"/>
            </a:endParaRPr>
          </a:p>
          <a:p>
            <a:r>
              <a:rPr sz="2800">
                <a:latin typeface="Times New Roman" panose="02020603050405020304" pitchFamily="18" charset="0"/>
                <a:cs typeface="Times New Roman" panose="02020603050405020304" pitchFamily="18" charset="0"/>
                <a:sym typeface="+mn-ea"/>
              </a:rPr>
              <a:t>• Saved final cleaned dataset as 'Drone_Cleaned_Final.csv'.</a:t>
            </a:r>
            <a:endParaRPr lang="en-US" altLang="en-US" sz="2800">
              <a:latin typeface="Times New Roman" panose="02020603050405020304" pitchFamily="18" charset="0"/>
              <a:cs typeface="Times New Roman" panose="02020603050405020304" pitchFamily="18" charset="0"/>
              <a:sym typeface="+mn-ea"/>
            </a:endParaRPr>
          </a:p>
        </p:txBody>
      </p:sp>
      <p:sp>
        <p:nvSpPr>
          <p:cNvPr id="4" name="Text Box 3"/>
          <p:cNvSpPr txBox="1"/>
          <p:nvPr/>
        </p:nvSpPr>
        <p:spPr>
          <a:xfrm>
            <a:off x="347345" y="541020"/>
            <a:ext cx="6096000" cy="645160"/>
          </a:xfrm>
          <a:prstGeom prst="rect">
            <a:avLst/>
          </a:prstGeom>
          <a:noFill/>
        </p:spPr>
        <p:txBody>
          <a:bodyPr wrap="square" rtlCol="0" anchor="t">
            <a:spAutoFit/>
          </a:bodyPr>
          <a:lstStyle/>
          <a:p>
            <a:pPr algn="just" rtl="0" fontAlgn="base">
              <a:spcBef>
                <a:spcPts val="1000"/>
              </a:spcBef>
            </a:pPr>
            <a:r>
              <a:rPr sz="3600" b="1">
                <a:latin typeface="Times New Roman" panose="02020603050405020304" pitchFamily="18" charset="0"/>
                <a:cs typeface="Times New Roman" panose="02020603050405020304" pitchFamily="18" charset="0"/>
                <a:sym typeface="+mn-ea"/>
              </a:rPr>
              <a:t>Final Outcome</a:t>
            </a:r>
            <a:r>
              <a:rPr lang="en-US" sz="3600" b="1">
                <a:latin typeface="Times New Roman" panose="02020603050405020304" pitchFamily="18" charset="0"/>
                <a:cs typeface="Times New Roman" panose="02020603050405020304" pitchFamily="18" charset="0"/>
                <a:sym typeface="+mn-ea"/>
              </a:rPr>
              <a:t> :</a:t>
            </a:r>
            <a:endParaRPr lang="en-US" sz="3600" b="1" i="1" dirty="0">
              <a:solidFill>
                <a:srgbClr val="000000"/>
              </a:solidFill>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sp>
        <p:nvSpPr>
          <p:cNvPr id="3" name="Text Box 2"/>
          <p:cNvSpPr txBox="1"/>
          <p:nvPr/>
        </p:nvSpPr>
        <p:spPr>
          <a:xfrm>
            <a:off x="3048000" y="3106420"/>
            <a:ext cx="6096000" cy="645160"/>
          </a:xfrm>
          <a:prstGeom prst="rect">
            <a:avLst/>
          </a:prstGeom>
          <a:noFill/>
        </p:spPr>
        <p:txBody>
          <a:bodyPr wrap="square" rtlCol="0" anchor="t">
            <a:spAutoFit/>
          </a:bodyPr>
          <a:lstStyle/>
          <a:p>
            <a:pPr algn="just" rtl="0" fontAlgn="base">
              <a:spcBef>
                <a:spcPts val="1000"/>
              </a:spcBef>
            </a:pPr>
            <a:endParaRPr lang="en-US" sz="3600" b="1" i="1" dirty="0">
              <a:solidFill>
                <a:srgbClr val="000000"/>
              </a:solidFill>
              <a:effectLst/>
              <a:latin typeface="Calibri" panose="020F0502020204030204" pitchFamily="34" charset="0"/>
              <a:sym typeface="+mn-ea"/>
            </a:endParaRPr>
          </a:p>
        </p:txBody>
      </p:sp>
      <p:sp>
        <p:nvSpPr>
          <p:cNvPr id="4" name="Text Box 3"/>
          <p:cNvSpPr txBox="1"/>
          <p:nvPr/>
        </p:nvSpPr>
        <p:spPr>
          <a:xfrm>
            <a:off x="493140" y="121285"/>
            <a:ext cx="6169660" cy="645160"/>
          </a:xfrm>
          <a:prstGeom prst="rect">
            <a:avLst/>
          </a:prstGeom>
        </p:spPr>
        <p:txBody>
          <a:bodyPr wrap="square">
            <a:spAutoFit/>
          </a:bodyPr>
          <a:lstStyle/>
          <a:p>
            <a:pPr fontAlgn="base"/>
            <a:r>
              <a:rPr lang="en-US" sz="3500" b="1" dirty="0">
                <a:solidFill>
                  <a:srgbClr val="000000"/>
                </a:solidFill>
                <a:latin typeface="Times New Roman" panose="02020603050405020304" pitchFamily="18" charset="0"/>
                <a:ea typeface="Calibri" panose="020F0502020204030204"/>
                <a:cs typeface="Times New Roman" panose="02020603050405020304" pitchFamily="18" charset="0"/>
              </a:rPr>
              <a:t>3. </a:t>
            </a:r>
            <a:r>
              <a:rPr sz="3500" b="1" dirty="0">
                <a:solidFill>
                  <a:srgbClr val="000000"/>
                </a:solidFill>
                <a:latin typeface="Times New Roman" panose="02020603050405020304" pitchFamily="18" charset="0"/>
                <a:ea typeface="Calibri" panose="020F0502020204030204"/>
                <a:cs typeface="Times New Roman" panose="02020603050405020304" pitchFamily="18" charset="0"/>
              </a:rPr>
              <a:t>Univariate Analysis  Steps</a:t>
            </a:r>
          </a:p>
        </p:txBody>
      </p:sp>
      <p:pic>
        <p:nvPicPr>
          <p:cNvPr id="6" name="Picture 5"/>
          <p:cNvPicPr>
            <a:picLocks noChangeAspect="1"/>
          </p:cNvPicPr>
          <p:nvPr/>
        </p:nvPicPr>
        <p:blipFill>
          <a:blip r:embed="rId3"/>
          <a:stretch>
            <a:fillRect/>
          </a:stretch>
        </p:blipFill>
        <p:spPr>
          <a:xfrm>
            <a:off x="0" y="1362393"/>
            <a:ext cx="4541520" cy="3894455"/>
          </a:xfrm>
          <a:prstGeom prst="rect">
            <a:avLst/>
          </a:prstGeom>
        </p:spPr>
      </p:pic>
      <p:pic>
        <p:nvPicPr>
          <p:cNvPr id="7" name="Picture 6"/>
          <p:cNvPicPr>
            <a:picLocks noChangeAspect="1"/>
          </p:cNvPicPr>
          <p:nvPr/>
        </p:nvPicPr>
        <p:blipFill>
          <a:blip r:embed="rId4"/>
          <a:stretch>
            <a:fillRect/>
          </a:stretch>
        </p:blipFill>
        <p:spPr>
          <a:xfrm>
            <a:off x="4541520" y="1276032"/>
            <a:ext cx="7366635" cy="4067175"/>
          </a:xfrm>
          <a:prstGeom prst="rect">
            <a:avLst/>
          </a:prstGeom>
        </p:spPr>
      </p:pic>
      <p:sp>
        <p:nvSpPr>
          <p:cNvPr id="9" name="Text Box 8"/>
          <p:cNvSpPr txBox="1"/>
          <p:nvPr/>
        </p:nvSpPr>
        <p:spPr>
          <a:xfrm>
            <a:off x="612742" y="894996"/>
            <a:ext cx="3227705" cy="430887"/>
          </a:xfrm>
          <a:prstGeom prst="rect">
            <a:avLst/>
          </a:prstGeom>
        </p:spPr>
        <p:txBody>
          <a:bodyPr wrap="square">
            <a:spAutoFit/>
          </a:bodyPr>
          <a:lstStyle/>
          <a:p>
            <a:pPr marL="0" indent="0">
              <a:spcAft>
                <a:spcPct val="60000"/>
              </a:spcAft>
            </a:pPr>
            <a:r>
              <a:rPr sz="2200" b="1" i="0" dirty="0">
                <a:latin typeface="Times New Roman" panose="02020603050405020304" pitchFamily="18" charset="0"/>
                <a:ea typeface="system-ui"/>
                <a:cs typeface="Times New Roman" panose="02020603050405020304" pitchFamily="18" charset="0"/>
              </a:rPr>
              <a:t>Price Distribution</a:t>
            </a:r>
            <a:r>
              <a:rPr lang="en-IN" sz="2200" b="1" i="0" dirty="0">
                <a:latin typeface="Times New Roman" panose="02020603050405020304" pitchFamily="18" charset="0"/>
                <a:ea typeface="system-ui"/>
                <a:cs typeface="Times New Roman" panose="02020603050405020304" pitchFamily="18" charset="0"/>
              </a:rPr>
              <a:t> </a:t>
            </a:r>
            <a:endParaRPr sz="2200" b="1" i="0" dirty="0">
              <a:latin typeface="Times New Roman" panose="02020603050405020304" pitchFamily="18" charset="0"/>
              <a:ea typeface="system-ui"/>
              <a:cs typeface="Times New Roman" panose="02020603050405020304" pitchFamily="18" charset="0"/>
            </a:endParaRPr>
          </a:p>
        </p:txBody>
      </p:sp>
      <p:sp>
        <p:nvSpPr>
          <p:cNvPr id="10" name="Text Box 9"/>
          <p:cNvSpPr txBox="1"/>
          <p:nvPr/>
        </p:nvSpPr>
        <p:spPr>
          <a:xfrm>
            <a:off x="5691187" y="844481"/>
            <a:ext cx="5080000" cy="430887"/>
          </a:xfrm>
          <a:prstGeom prst="rect">
            <a:avLst/>
          </a:prstGeom>
        </p:spPr>
        <p:txBody>
          <a:bodyPr>
            <a:spAutoFit/>
          </a:bodyPr>
          <a:lstStyle/>
          <a:p>
            <a:pPr marL="0" indent="0">
              <a:spcAft>
                <a:spcPct val="60000"/>
              </a:spcAft>
            </a:pPr>
            <a:r>
              <a:rPr sz="2200" b="1" i="0" dirty="0">
                <a:latin typeface="Times New Roman" panose="02020603050405020304" pitchFamily="18" charset="0"/>
                <a:ea typeface="system-ui"/>
                <a:cs typeface="Times New Roman" panose="02020603050405020304" pitchFamily="18" charset="0"/>
              </a:rPr>
              <a:t>Distribution of the Battery Types</a:t>
            </a:r>
          </a:p>
        </p:txBody>
      </p:sp>
      <p:sp>
        <p:nvSpPr>
          <p:cNvPr id="8" name="TextBox 7">
            <a:extLst>
              <a:ext uri="{FF2B5EF4-FFF2-40B4-BE49-F238E27FC236}">
                <a16:creationId xmlns:a16="http://schemas.microsoft.com/office/drawing/2014/main" id="{94090439-20B0-10D4-8901-9C21583801DB}"/>
              </a:ext>
            </a:extLst>
          </p:cNvPr>
          <p:cNvSpPr txBox="1"/>
          <p:nvPr/>
        </p:nvSpPr>
        <p:spPr>
          <a:xfrm>
            <a:off x="370592" y="5495607"/>
            <a:ext cx="4352238" cy="523220"/>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Most drones are priced between ₹1500–₹3000, as this range shows the highest count in the distribution.</a:t>
            </a:r>
            <a:endParaRPr lang="en-US" sz="1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C07C22B-BFB5-2C24-5124-61B177ABB1BA}"/>
              </a:ext>
            </a:extLst>
          </p:cNvPr>
          <p:cNvSpPr txBox="1"/>
          <p:nvPr/>
        </p:nvSpPr>
        <p:spPr>
          <a:xfrm>
            <a:off x="5423902" y="5297089"/>
            <a:ext cx="6321896" cy="523220"/>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The dataset contains 6 battery types, and among them, </a:t>
            </a:r>
            <a:r>
              <a:rPr lang="en-US" sz="1400" b="1" i="1" dirty="0">
                <a:latin typeface="Times New Roman" panose="02020603050405020304" pitchFamily="18" charset="0"/>
                <a:cs typeface="Times New Roman" panose="02020603050405020304" pitchFamily="18" charset="0"/>
              </a:rPr>
              <a:t>Lithium</a:t>
            </a:r>
            <a:r>
              <a:rPr lang="en-US" sz="1400" b="1" dirty="0">
                <a:latin typeface="Times New Roman" panose="02020603050405020304" pitchFamily="18" charset="0"/>
                <a:cs typeface="Times New Roman" panose="02020603050405020304" pitchFamily="18" charset="0"/>
              </a:rPr>
              <a:t> batteries appear the most frequently.</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pic>
        <p:nvPicPr>
          <p:cNvPr id="4" name="Picture 3"/>
          <p:cNvPicPr>
            <a:picLocks noChangeAspect="1"/>
          </p:cNvPicPr>
          <p:nvPr/>
        </p:nvPicPr>
        <p:blipFill>
          <a:blip r:embed="rId3"/>
          <a:stretch>
            <a:fillRect/>
          </a:stretch>
        </p:blipFill>
        <p:spPr>
          <a:xfrm>
            <a:off x="8173720" y="832485"/>
            <a:ext cx="3773805" cy="3320415"/>
          </a:xfrm>
          <a:prstGeom prst="rect">
            <a:avLst/>
          </a:prstGeom>
        </p:spPr>
      </p:pic>
      <p:sp>
        <p:nvSpPr>
          <p:cNvPr id="5" name="Text Box 4"/>
          <p:cNvSpPr txBox="1"/>
          <p:nvPr/>
        </p:nvSpPr>
        <p:spPr>
          <a:xfrm>
            <a:off x="4234815" y="2533610"/>
            <a:ext cx="3561152" cy="398780"/>
          </a:xfrm>
          <a:prstGeom prst="rect">
            <a:avLst/>
          </a:prstGeom>
        </p:spPr>
        <p:txBody>
          <a:bodyPr wrap="square">
            <a:spAutoFit/>
          </a:bodyPr>
          <a:lstStyle/>
          <a:p>
            <a:pPr marL="0" indent="0">
              <a:spcAft>
                <a:spcPct val="60000"/>
              </a:spcAft>
            </a:pPr>
            <a:r>
              <a:rPr sz="2000" b="1" i="0" dirty="0">
                <a:latin typeface="Times New Roman" panose="02020603050405020304" pitchFamily="18" charset="0"/>
                <a:ea typeface="system-ui"/>
                <a:cs typeface="Times New Roman" panose="02020603050405020304" pitchFamily="18" charset="0"/>
              </a:rPr>
              <a:t>Probability Density of </a:t>
            </a:r>
            <a:r>
              <a:rPr lang="en-IN" sz="2000" b="1" i="0" dirty="0">
                <a:latin typeface="Times New Roman" panose="02020603050405020304" pitchFamily="18" charset="0"/>
                <a:ea typeface="system-ui"/>
                <a:cs typeface="Times New Roman" panose="02020603050405020304" pitchFamily="18" charset="0"/>
              </a:rPr>
              <a:t>Offer</a:t>
            </a:r>
            <a:endParaRPr sz="2000" b="1" i="0" dirty="0">
              <a:latin typeface="Times New Roman" panose="02020603050405020304" pitchFamily="18" charset="0"/>
              <a:ea typeface="system-ui"/>
              <a:cs typeface="Times New Roman" panose="02020603050405020304" pitchFamily="18" charset="0"/>
            </a:endParaRPr>
          </a:p>
        </p:txBody>
      </p:sp>
      <p:sp>
        <p:nvSpPr>
          <p:cNvPr id="6" name="Text Box 5"/>
          <p:cNvSpPr txBox="1"/>
          <p:nvPr/>
        </p:nvSpPr>
        <p:spPr>
          <a:xfrm>
            <a:off x="295910" y="154623"/>
            <a:ext cx="5080000" cy="892552"/>
          </a:xfrm>
          <a:prstGeom prst="rect">
            <a:avLst/>
          </a:prstGeom>
        </p:spPr>
        <p:txBody>
          <a:bodyPr>
            <a:spAutoFit/>
          </a:bodyPr>
          <a:lstStyle/>
          <a:p>
            <a:pPr marL="0" indent="0">
              <a:spcAft>
                <a:spcPct val="60000"/>
              </a:spcAft>
            </a:pPr>
            <a:r>
              <a:rPr lang="en-IN" sz="2000" b="1" i="0" dirty="0">
                <a:latin typeface="Times New Roman" panose="02020603050405020304" pitchFamily="18" charset="0"/>
                <a:ea typeface="system-ui"/>
                <a:cs typeface="Times New Roman" panose="02020603050405020304" pitchFamily="18" charset="0"/>
              </a:rPr>
              <a:t>Range Distribution</a:t>
            </a:r>
          </a:p>
          <a:p>
            <a:pPr marL="0" indent="0">
              <a:spcAft>
                <a:spcPct val="60000"/>
              </a:spcAft>
            </a:pPr>
            <a:endParaRPr sz="2000" b="1" i="0" dirty="0">
              <a:latin typeface="Times New Roman" panose="02020603050405020304" pitchFamily="18" charset="0"/>
              <a:ea typeface="system-ui"/>
              <a:cs typeface="Times New Roman" panose="02020603050405020304" pitchFamily="18" charset="0"/>
            </a:endParaRPr>
          </a:p>
        </p:txBody>
      </p:sp>
      <p:sp>
        <p:nvSpPr>
          <p:cNvPr id="7" name="Text Box 6"/>
          <p:cNvSpPr txBox="1"/>
          <p:nvPr/>
        </p:nvSpPr>
        <p:spPr>
          <a:xfrm>
            <a:off x="8173720" y="216535"/>
            <a:ext cx="3131185" cy="398780"/>
          </a:xfrm>
          <a:prstGeom prst="rect">
            <a:avLst/>
          </a:prstGeom>
        </p:spPr>
        <p:txBody>
          <a:bodyPr wrap="square">
            <a:spAutoFit/>
          </a:bodyPr>
          <a:lstStyle/>
          <a:p>
            <a:pPr marL="0" indent="0">
              <a:spcAft>
                <a:spcPct val="60000"/>
              </a:spcAft>
            </a:pPr>
            <a:r>
              <a:rPr sz="2000" b="1" i="0">
                <a:latin typeface="Times New Roman" panose="02020603050405020304" pitchFamily="18" charset="0"/>
                <a:ea typeface="system-ui"/>
                <a:cs typeface="Times New Roman" panose="02020603050405020304" pitchFamily="18" charset="0"/>
              </a:rPr>
              <a:t>Propotion of Drone Type</a:t>
            </a:r>
          </a:p>
        </p:txBody>
      </p:sp>
      <p:sp>
        <p:nvSpPr>
          <p:cNvPr id="10" name="TextBox 9">
            <a:extLst>
              <a:ext uri="{FF2B5EF4-FFF2-40B4-BE49-F238E27FC236}">
                <a16:creationId xmlns:a16="http://schemas.microsoft.com/office/drawing/2014/main" id="{34677D05-85B1-B8F4-F08F-DE80FD7C7AF4}"/>
              </a:ext>
            </a:extLst>
          </p:cNvPr>
          <p:cNvSpPr txBox="1"/>
          <p:nvPr/>
        </p:nvSpPr>
        <p:spPr>
          <a:xfrm>
            <a:off x="8852646" y="4038422"/>
            <a:ext cx="3159538" cy="1200329"/>
          </a:xfrm>
          <a:prstGeom prst="rect">
            <a:avLst/>
          </a:prstGeom>
          <a:noFill/>
        </p:spPr>
        <p:txBody>
          <a:bodyPr wrap="square">
            <a:spAutoFit/>
          </a:bodyPr>
          <a:lstStyle/>
          <a:p>
            <a:r>
              <a:rPr lang="en-US" b="1" dirty="0"/>
              <a:t>Mini drones have the highest  (62.15), whereas professional drones are fewer (37.85) in the dataset.</a:t>
            </a:r>
            <a:endParaRPr lang="en-US" dirty="0"/>
          </a:p>
        </p:txBody>
      </p:sp>
      <p:pic>
        <p:nvPicPr>
          <p:cNvPr id="12" name="Picture 11">
            <a:extLst>
              <a:ext uri="{FF2B5EF4-FFF2-40B4-BE49-F238E27FC236}">
                <a16:creationId xmlns:a16="http://schemas.microsoft.com/office/drawing/2014/main" id="{53F2B2AE-EC3D-ADC0-0316-1399AA378F7C}"/>
              </a:ext>
            </a:extLst>
          </p:cNvPr>
          <p:cNvPicPr>
            <a:picLocks noChangeAspect="1"/>
          </p:cNvPicPr>
          <p:nvPr/>
        </p:nvPicPr>
        <p:blipFill>
          <a:blip r:embed="rId4"/>
          <a:stretch>
            <a:fillRect/>
          </a:stretch>
        </p:blipFill>
        <p:spPr>
          <a:xfrm>
            <a:off x="98937" y="600899"/>
            <a:ext cx="3919344" cy="3320415"/>
          </a:xfrm>
          <a:prstGeom prst="rect">
            <a:avLst/>
          </a:prstGeom>
        </p:spPr>
      </p:pic>
      <p:sp>
        <p:nvSpPr>
          <p:cNvPr id="9" name="TextBox 8">
            <a:extLst>
              <a:ext uri="{FF2B5EF4-FFF2-40B4-BE49-F238E27FC236}">
                <a16:creationId xmlns:a16="http://schemas.microsoft.com/office/drawing/2014/main" id="{42E3AC08-6D94-7EDE-40C9-6834A4D63F7A}"/>
              </a:ext>
            </a:extLst>
          </p:cNvPr>
          <p:cNvSpPr txBox="1"/>
          <p:nvPr/>
        </p:nvSpPr>
        <p:spPr>
          <a:xfrm>
            <a:off x="179816" y="3943917"/>
            <a:ext cx="3542119" cy="1200329"/>
          </a:xfrm>
          <a:prstGeom prst="rect">
            <a:avLst/>
          </a:prstGeom>
          <a:noFill/>
        </p:spPr>
        <p:txBody>
          <a:bodyPr wrap="square">
            <a:spAutoFit/>
          </a:bodyPr>
          <a:lstStyle/>
          <a:p>
            <a:pPr>
              <a:spcAft>
                <a:spcPct val="60000"/>
              </a:spcAft>
            </a:pPr>
            <a:r>
              <a:rPr lang="en-US" b="1" dirty="0"/>
              <a:t>Most drones have a range below 50 m (414 counts), while only a few drones offer higher ranges above 100 m.</a:t>
            </a:r>
            <a:endParaRPr lang="en-US" dirty="0"/>
          </a:p>
        </p:txBody>
      </p:sp>
      <p:sp>
        <p:nvSpPr>
          <p:cNvPr id="11" name="AutoShape 2">
            <a:extLst>
              <a:ext uri="{FF2B5EF4-FFF2-40B4-BE49-F238E27FC236}">
                <a16:creationId xmlns:a16="http://schemas.microsoft.com/office/drawing/2014/main" id="{FFEC4928-B7CE-781E-63F5-BB5836C40D6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C783701A-D315-F9E5-1D58-539CD2DA64BF}"/>
              </a:ext>
            </a:extLst>
          </p:cNvPr>
          <p:cNvPicPr>
            <a:picLocks noChangeAspect="1"/>
          </p:cNvPicPr>
          <p:nvPr/>
        </p:nvPicPr>
        <p:blipFill>
          <a:blip r:embed="rId5">
            <a:extLst>
              <a:ext uri="{28A0092B-C50C-407E-A947-70E740481C1C}">
                <a14:useLocalDpi xmlns:a14="http://schemas.microsoft.com/office/drawing/2010/main" val="0"/>
              </a:ext>
            </a:extLst>
          </a:blip>
          <a:srcRect t="7520" r="1749"/>
          <a:stretch>
            <a:fillRect/>
          </a:stretch>
        </p:blipFill>
        <p:spPr>
          <a:xfrm>
            <a:off x="4252097" y="2971321"/>
            <a:ext cx="2957837" cy="2773973"/>
          </a:xfrm>
          <a:prstGeom prst="rect">
            <a:avLst/>
          </a:prstGeom>
        </p:spPr>
      </p:pic>
      <p:sp>
        <p:nvSpPr>
          <p:cNvPr id="16" name="TextBox 15">
            <a:extLst>
              <a:ext uri="{FF2B5EF4-FFF2-40B4-BE49-F238E27FC236}">
                <a16:creationId xmlns:a16="http://schemas.microsoft.com/office/drawing/2014/main" id="{EC62B6B9-F21B-0206-ECC2-3041AA71CAF8}"/>
              </a:ext>
            </a:extLst>
          </p:cNvPr>
          <p:cNvSpPr txBox="1"/>
          <p:nvPr/>
        </p:nvSpPr>
        <p:spPr>
          <a:xfrm>
            <a:off x="3995064" y="5784225"/>
            <a:ext cx="404065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Most Offers are </a:t>
            </a:r>
            <a:r>
              <a:rPr lang="en-US" b="1" dirty="0">
                <a:latin typeface="Times New Roman" panose="02020603050405020304" pitchFamily="18" charset="0"/>
                <a:cs typeface="Times New Roman" panose="02020603050405020304" pitchFamily="18" charset="0"/>
              </a:rPr>
              <a:t>in</a:t>
            </a:r>
            <a:r>
              <a:rPr lang="en-US" sz="1800" b="1" dirty="0">
                <a:latin typeface="Times New Roman" panose="02020603050405020304" pitchFamily="18" charset="0"/>
                <a:cs typeface="Times New Roman" panose="02020603050405020304" pitchFamily="18" charset="0"/>
              </a:rPr>
              <a:t> between </a:t>
            </a:r>
            <a:r>
              <a:rPr lang="en-US" b="1" dirty="0">
                <a:latin typeface="Times New Roman" panose="02020603050405020304" pitchFamily="18" charset="0"/>
                <a:cs typeface="Times New Roman" panose="02020603050405020304" pitchFamily="18" charset="0"/>
              </a:rPr>
              <a:t>60 – 80%</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sp>
        <p:nvSpPr>
          <p:cNvPr id="4" name="Text Box 3"/>
          <p:cNvSpPr txBox="1"/>
          <p:nvPr/>
        </p:nvSpPr>
        <p:spPr>
          <a:xfrm>
            <a:off x="238125" y="183515"/>
            <a:ext cx="6227445" cy="523220"/>
          </a:xfrm>
          <a:prstGeom prst="rect">
            <a:avLst/>
          </a:prstGeom>
        </p:spPr>
        <p:txBody>
          <a:bodyPr wrap="square">
            <a:spAutoFit/>
          </a:bodyPr>
          <a:lstStyle/>
          <a:p>
            <a:pPr marL="0" indent="0" algn="just" fontAlgn="base">
              <a:spcBef>
                <a:spcPts val="1000"/>
              </a:spcBef>
              <a:spcAft>
                <a:spcPct val="0"/>
              </a:spcAft>
              <a:buNone/>
            </a:pPr>
            <a:r>
              <a:rPr lang="en-US" sz="2800" b="1" dirty="0">
                <a:solidFill>
                  <a:srgbClr val="000000"/>
                </a:solidFill>
                <a:latin typeface="Times New Roman" panose="02020603050405020304" pitchFamily="18" charset="0"/>
                <a:ea typeface="Calibri" panose="020F0502020204030204"/>
                <a:cs typeface="Times New Roman" panose="02020603050405020304" pitchFamily="18" charset="0"/>
              </a:rPr>
              <a:t>4. </a:t>
            </a:r>
            <a:r>
              <a:rPr sz="2800" b="1" dirty="0">
                <a:solidFill>
                  <a:srgbClr val="000000"/>
                </a:solidFill>
                <a:latin typeface="Times New Roman" panose="02020603050405020304" pitchFamily="18" charset="0"/>
                <a:ea typeface="Calibri" panose="020F0502020204030204"/>
                <a:cs typeface="Times New Roman" panose="02020603050405020304" pitchFamily="18" charset="0"/>
              </a:rPr>
              <a:t>Bivariate Analysis  Steps </a:t>
            </a:r>
          </a:p>
        </p:txBody>
      </p:sp>
      <p:pic>
        <p:nvPicPr>
          <p:cNvPr id="5" name="Picture 4"/>
          <p:cNvPicPr>
            <a:picLocks noChangeAspect="1"/>
          </p:cNvPicPr>
          <p:nvPr/>
        </p:nvPicPr>
        <p:blipFill>
          <a:blip r:embed="rId3"/>
          <a:stretch>
            <a:fillRect/>
          </a:stretch>
        </p:blipFill>
        <p:spPr>
          <a:xfrm>
            <a:off x="63434" y="1088884"/>
            <a:ext cx="3916045" cy="2950845"/>
          </a:xfrm>
          <a:prstGeom prst="rect">
            <a:avLst/>
          </a:prstGeom>
        </p:spPr>
      </p:pic>
      <p:pic>
        <p:nvPicPr>
          <p:cNvPr id="6" name="Picture 5"/>
          <p:cNvPicPr>
            <a:picLocks noChangeAspect="1"/>
          </p:cNvPicPr>
          <p:nvPr/>
        </p:nvPicPr>
        <p:blipFill>
          <a:blip r:embed="rId4"/>
          <a:stretch>
            <a:fillRect/>
          </a:stretch>
        </p:blipFill>
        <p:spPr>
          <a:xfrm>
            <a:off x="8121652" y="605790"/>
            <a:ext cx="3916045" cy="2921635"/>
          </a:xfrm>
          <a:prstGeom prst="rect">
            <a:avLst/>
          </a:prstGeom>
        </p:spPr>
      </p:pic>
      <p:pic>
        <p:nvPicPr>
          <p:cNvPr id="7" name="Picture 6"/>
          <p:cNvPicPr>
            <a:picLocks noChangeAspect="1"/>
          </p:cNvPicPr>
          <p:nvPr/>
        </p:nvPicPr>
        <p:blipFill>
          <a:blip r:embed="rId5"/>
          <a:stretch>
            <a:fillRect/>
          </a:stretch>
        </p:blipFill>
        <p:spPr>
          <a:xfrm>
            <a:off x="4070349" y="2826186"/>
            <a:ext cx="3755312" cy="3106738"/>
          </a:xfrm>
          <a:prstGeom prst="rect">
            <a:avLst/>
          </a:prstGeom>
        </p:spPr>
      </p:pic>
      <p:sp>
        <p:nvSpPr>
          <p:cNvPr id="8" name="Text Box 7"/>
          <p:cNvSpPr txBox="1"/>
          <p:nvPr/>
        </p:nvSpPr>
        <p:spPr>
          <a:xfrm>
            <a:off x="4322613" y="2487632"/>
            <a:ext cx="5080000" cy="338554"/>
          </a:xfrm>
          <a:prstGeom prst="rect">
            <a:avLst/>
          </a:prstGeom>
        </p:spPr>
        <p:txBody>
          <a:bodyPr>
            <a:spAutoFit/>
          </a:bodyPr>
          <a:lstStyle/>
          <a:p>
            <a:pPr marL="0" indent="0">
              <a:spcAft>
                <a:spcPct val="60000"/>
              </a:spcAft>
            </a:pPr>
            <a:r>
              <a:rPr sz="1600" b="1" i="0" dirty="0">
                <a:latin typeface="Times New Roman" panose="02020603050405020304" pitchFamily="18" charset="0"/>
                <a:ea typeface="system-ui"/>
                <a:cs typeface="Times New Roman" panose="02020603050405020304" pitchFamily="18" charset="0"/>
              </a:rPr>
              <a:t>Relation Between Offer and Price</a:t>
            </a:r>
          </a:p>
        </p:txBody>
      </p:sp>
      <p:sp>
        <p:nvSpPr>
          <p:cNvPr id="9" name="Text Box 8"/>
          <p:cNvSpPr txBox="1"/>
          <p:nvPr/>
        </p:nvSpPr>
        <p:spPr>
          <a:xfrm>
            <a:off x="8601710" y="110647"/>
            <a:ext cx="3980815" cy="338554"/>
          </a:xfrm>
          <a:prstGeom prst="rect">
            <a:avLst/>
          </a:prstGeom>
        </p:spPr>
        <p:txBody>
          <a:bodyPr wrap="square">
            <a:spAutoFit/>
          </a:bodyPr>
          <a:lstStyle/>
          <a:p>
            <a:pPr marL="0" indent="0">
              <a:spcAft>
                <a:spcPct val="60000"/>
              </a:spcAft>
            </a:pPr>
            <a:r>
              <a:rPr sz="1600" b="1" i="0" dirty="0">
                <a:latin typeface="Times New Roman" panose="02020603050405020304" pitchFamily="18" charset="0"/>
                <a:ea typeface="system-ui"/>
                <a:cs typeface="Times New Roman" panose="02020603050405020304" pitchFamily="18" charset="0"/>
              </a:rPr>
              <a:t>Relation Between Price, Rating</a:t>
            </a:r>
          </a:p>
        </p:txBody>
      </p:sp>
      <p:sp>
        <p:nvSpPr>
          <p:cNvPr id="10" name="Text Box 9"/>
          <p:cNvSpPr txBox="1"/>
          <p:nvPr/>
        </p:nvSpPr>
        <p:spPr>
          <a:xfrm>
            <a:off x="523574" y="743921"/>
            <a:ext cx="5080000" cy="307777"/>
          </a:xfrm>
          <a:prstGeom prst="rect">
            <a:avLst/>
          </a:prstGeom>
        </p:spPr>
        <p:txBody>
          <a:bodyPr>
            <a:spAutoFit/>
          </a:bodyPr>
          <a:lstStyle/>
          <a:p>
            <a:pPr marL="0" indent="0">
              <a:spcAft>
                <a:spcPct val="60000"/>
              </a:spcAft>
            </a:pPr>
            <a:r>
              <a:rPr sz="1400" b="1" i="0" dirty="0">
                <a:latin typeface="Times New Roman" panose="02020603050405020304" pitchFamily="18" charset="0"/>
                <a:ea typeface="system-ui"/>
                <a:cs typeface="Times New Roman" panose="02020603050405020304" pitchFamily="18" charset="0"/>
              </a:rPr>
              <a:t>Relation Between Weight (g), Range(m)</a:t>
            </a:r>
          </a:p>
        </p:txBody>
      </p:sp>
      <p:sp>
        <p:nvSpPr>
          <p:cNvPr id="11" name="TextBox 10">
            <a:extLst>
              <a:ext uri="{FF2B5EF4-FFF2-40B4-BE49-F238E27FC236}">
                <a16:creationId xmlns:a16="http://schemas.microsoft.com/office/drawing/2014/main" id="{8F5F5254-FC15-562C-8330-9A2854C43E6A}"/>
              </a:ext>
            </a:extLst>
          </p:cNvPr>
          <p:cNvSpPr txBox="1"/>
          <p:nvPr/>
        </p:nvSpPr>
        <p:spPr>
          <a:xfrm>
            <a:off x="183144" y="4200299"/>
            <a:ext cx="3755312" cy="1224951"/>
          </a:xfrm>
          <a:prstGeom prst="rect">
            <a:avLst/>
          </a:prstGeom>
          <a:noFill/>
        </p:spPr>
        <p:txBody>
          <a:bodyPr wrap="square">
            <a:spAutoFit/>
          </a:bodyPr>
          <a:lstStyle/>
          <a:p>
            <a:pPr>
              <a:spcAft>
                <a:spcPct val="60000"/>
              </a:spcAft>
            </a:pPr>
            <a:r>
              <a:rPr lang="en-US" sz="1600" b="1" dirty="0">
                <a:latin typeface="Times New Roman" panose="02020603050405020304" pitchFamily="18" charset="0"/>
                <a:cs typeface="Times New Roman" panose="02020603050405020304" pitchFamily="18" charset="0"/>
              </a:rPr>
              <a:t>Weight and range show an inverse relationship</a:t>
            </a:r>
          </a:p>
          <a:p>
            <a:pPr>
              <a:spcAft>
                <a:spcPct val="60000"/>
              </a:spcAft>
            </a:pPr>
            <a:r>
              <a:rPr lang="en-US" sz="1600" b="1" dirty="0">
                <a:latin typeface="Times New Roman" panose="02020603050405020304" pitchFamily="18" charset="0"/>
                <a:cs typeface="Times New Roman" panose="02020603050405020304" pitchFamily="18" charset="0"/>
              </a:rPr>
              <a:t>as the drone’s weight increases, its range tends to decrease.</a:t>
            </a:r>
            <a:endParaRPr lang="en-US" sz="1600" b="1" dirty="0">
              <a:latin typeface="Times New Roman" panose="02020603050405020304" pitchFamily="18" charset="0"/>
              <a:ea typeface="system-ui"/>
              <a:cs typeface="Times New Roman" panose="02020603050405020304" pitchFamily="18" charset="0"/>
            </a:endParaRPr>
          </a:p>
        </p:txBody>
      </p:sp>
      <p:sp>
        <p:nvSpPr>
          <p:cNvPr id="13" name="TextBox 12">
            <a:extLst>
              <a:ext uri="{FF2B5EF4-FFF2-40B4-BE49-F238E27FC236}">
                <a16:creationId xmlns:a16="http://schemas.microsoft.com/office/drawing/2014/main" id="{2E8513FA-88FB-EAEC-BE97-4730B34F9C79}"/>
              </a:ext>
            </a:extLst>
          </p:cNvPr>
          <p:cNvSpPr txBox="1"/>
          <p:nvPr/>
        </p:nvSpPr>
        <p:spPr>
          <a:xfrm>
            <a:off x="3787282" y="5814217"/>
            <a:ext cx="4649406" cy="1809726"/>
          </a:xfrm>
          <a:prstGeom prst="rect">
            <a:avLst/>
          </a:prstGeom>
          <a:noFill/>
        </p:spPr>
        <p:txBody>
          <a:bodyPr wrap="square">
            <a:spAutoFit/>
          </a:bodyPr>
          <a:lstStyle/>
          <a:p>
            <a:pPr>
              <a:spcAft>
                <a:spcPct val="60000"/>
              </a:spcAft>
            </a:pPr>
            <a:r>
              <a:rPr lang="en-US" sz="1800" b="1" dirty="0">
                <a:latin typeface="Times New Roman" panose="02020603050405020304" pitchFamily="18" charset="0"/>
                <a:cs typeface="Times New Roman" panose="02020603050405020304" pitchFamily="18" charset="0"/>
              </a:rPr>
              <a:t>Price and Offer show an inverse </a:t>
            </a:r>
            <a:r>
              <a:rPr lang="en-US" sz="1800" b="1" dirty="0" err="1">
                <a:latin typeface="Times New Roman" panose="02020603050405020304" pitchFamily="18" charset="0"/>
                <a:cs typeface="Times New Roman" panose="02020603050405020304" pitchFamily="18" charset="0"/>
              </a:rPr>
              <a:t>relationship</a:t>
            </a:r>
            <a:r>
              <a:rPr lang="en-US" b="1" dirty="0" err="1">
                <a:latin typeface="Times New Roman" panose="02020603050405020304" pitchFamily="18" charset="0"/>
                <a:cs typeface="Times New Roman" panose="02020603050405020304" pitchFamily="18" charset="0"/>
              </a:rPr>
              <a:t>as</a:t>
            </a:r>
            <a:r>
              <a:rPr lang="en-US" b="1" dirty="0">
                <a:latin typeface="Times New Roman" panose="02020603050405020304" pitchFamily="18" charset="0"/>
                <a:cs typeface="Times New Roman" panose="02020603050405020304" pitchFamily="18" charset="0"/>
              </a:rPr>
              <a:t> the drone’s Offer increases, its Price  is  decrease.</a:t>
            </a:r>
            <a:endParaRPr lang="en-US" b="1" dirty="0">
              <a:latin typeface="Times New Roman" panose="02020603050405020304" pitchFamily="18" charset="0"/>
              <a:ea typeface="system-ui"/>
              <a:cs typeface="Times New Roman" panose="02020603050405020304" pitchFamily="18" charset="0"/>
            </a:endParaRPr>
          </a:p>
          <a:p>
            <a:pPr>
              <a:spcAft>
                <a:spcPct val="60000"/>
              </a:spcAft>
            </a:pPr>
            <a:endParaRPr lang="en-US" sz="1800" b="1" dirty="0">
              <a:latin typeface="Times New Roman" panose="02020603050405020304" pitchFamily="18" charset="0"/>
              <a:cs typeface="Times New Roman" panose="02020603050405020304" pitchFamily="18" charset="0"/>
            </a:endParaRPr>
          </a:p>
          <a:p>
            <a:pPr>
              <a:spcAft>
                <a:spcPct val="60000"/>
              </a:spcAft>
            </a:pPr>
            <a:endParaRPr lang="en-US" sz="18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A082D1D-7DE3-5760-931D-389AC9E283DD}"/>
              </a:ext>
            </a:extLst>
          </p:cNvPr>
          <p:cNvSpPr txBox="1"/>
          <p:nvPr/>
        </p:nvSpPr>
        <p:spPr>
          <a:xfrm>
            <a:off x="8272589" y="3470491"/>
            <a:ext cx="3919411"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Most drones, even low-priced ones, maintain average ratings around 3–4, showing that higher price does not guarantee better ratings.</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pic>
        <p:nvPicPr>
          <p:cNvPr id="3" name="Picture 2"/>
          <p:cNvPicPr>
            <a:picLocks noChangeAspect="1"/>
          </p:cNvPicPr>
          <p:nvPr/>
        </p:nvPicPr>
        <p:blipFill>
          <a:blip r:embed="rId3"/>
          <a:stretch>
            <a:fillRect/>
          </a:stretch>
        </p:blipFill>
        <p:spPr>
          <a:xfrm>
            <a:off x="187960" y="525185"/>
            <a:ext cx="3863340" cy="2870835"/>
          </a:xfrm>
          <a:prstGeom prst="rect">
            <a:avLst/>
          </a:prstGeom>
        </p:spPr>
      </p:pic>
      <p:pic>
        <p:nvPicPr>
          <p:cNvPr id="6" name="Picture 5"/>
          <p:cNvPicPr>
            <a:picLocks noChangeAspect="1"/>
          </p:cNvPicPr>
          <p:nvPr/>
        </p:nvPicPr>
        <p:blipFill>
          <a:blip r:embed="rId4"/>
          <a:stretch>
            <a:fillRect/>
          </a:stretch>
        </p:blipFill>
        <p:spPr>
          <a:xfrm>
            <a:off x="7067746" y="542687"/>
            <a:ext cx="4936294" cy="2963545"/>
          </a:xfrm>
          <a:prstGeom prst="rect">
            <a:avLst/>
          </a:prstGeom>
        </p:spPr>
      </p:pic>
      <p:pic>
        <p:nvPicPr>
          <p:cNvPr id="7" name="Picture 6"/>
          <p:cNvPicPr>
            <a:picLocks noChangeAspect="1"/>
          </p:cNvPicPr>
          <p:nvPr/>
        </p:nvPicPr>
        <p:blipFill>
          <a:blip r:embed="rId5"/>
          <a:stretch>
            <a:fillRect/>
          </a:stretch>
        </p:blipFill>
        <p:spPr>
          <a:xfrm>
            <a:off x="3387012" y="3252431"/>
            <a:ext cx="4126151" cy="2672468"/>
          </a:xfrm>
          <a:prstGeom prst="rect">
            <a:avLst/>
          </a:prstGeom>
        </p:spPr>
      </p:pic>
      <p:sp>
        <p:nvSpPr>
          <p:cNvPr id="8" name="Text Box 7"/>
          <p:cNvSpPr txBox="1"/>
          <p:nvPr/>
        </p:nvSpPr>
        <p:spPr>
          <a:xfrm>
            <a:off x="4051300" y="2896574"/>
            <a:ext cx="3138581" cy="323165"/>
          </a:xfrm>
          <a:prstGeom prst="rect">
            <a:avLst/>
          </a:prstGeom>
        </p:spPr>
        <p:txBody>
          <a:bodyPr wrap="square">
            <a:spAutoFit/>
          </a:bodyPr>
          <a:lstStyle/>
          <a:p>
            <a:pPr marL="0" indent="0">
              <a:spcAft>
                <a:spcPct val="60000"/>
              </a:spcAft>
            </a:pPr>
            <a:r>
              <a:rPr sz="1500" b="1" i="0" dirty="0">
                <a:latin typeface="Times New Roman" panose="02020603050405020304" pitchFamily="18" charset="0"/>
                <a:ea typeface="system-ui"/>
                <a:cs typeface="Times New Roman" panose="02020603050405020304" pitchFamily="18" charset="0"/>
              </a:rPr>
              <a:t>Rating Distribution Across Types</a:t>
            </a:r>
          </a:p>
        </p:txBody>
      </p:sp>
      <p:sp>
        <p:nvSpPr>
          <p:cNvPr id="9" name="Text Box 8"/>
          <p:cNvSpPr txBox="1"/>
          <p:nvPr/>
        </p:nvSpPr>
        <p:spPr>
          <a:xfrm>
            <a:off x="7230868" y="148579"/>
            <a:ext cx="5618480" cy="338554"/>
          </a:xfrm>
          <a:prstGeom prst="rect">
            <a:avLst/>
          </a:prstGeom>
        </p:spPr>
        <p:txBody>
          <a:bodyPr wrap="square">
            <a:spAutoFit/>
          </a:bodyPr>
          <a:lstStyle/>
          <a:p>
            <a:pPr marL="0" indent="0">
              <a:spcAft>
                <a:spcPct val="60000"/>
              </a:spcAft>
            </a:pPr>
            <a:r>
              <a:rPr sz="1600" b="1" i="0" dirty="0">
                <a:latin typeface="Times New Roman" panose="02020603050405020304" pitchFamily="18" charset="0"/>
                <a:ea typeface="system-ui"/>
                <a:cs typeface="Times New Roman" panose="02020603050405020304" pitchFamily="18" charset="0"/>
              </a:rPr>
              <a:t>The Mean of Range </a:t>
            </a:r>
            <a:r>
              <a:rPr sz="1600" b="1" i="0" dirty="0" err="1">
                <a:latin typeface="Times New Roman" panose="02020603050405020304" pitchFamily="18" charset="0"/>
                <a:ea typeface="system-ui"/>
                <a:cs typeface="Times New Roman" panose="02020603050405020304" pitchFamily="18" charset="0"/>
              </a:rPr>
              <a:t>accross</a:t>
            </a:r>
            <a:r>
              <a:rPr sz="1600" b="1" i="0" dirty="0">
                <a:latin typeface="Times New Roman" panose="02020603050405020304" pitchFamily="18" charset="0"/>
                <a:ea typeface="system-ui"/>
                <a:cs typeface="Times New Roman" panose="02020603050405020304" pitchFamily="18" charset="0"/>
              </a:rPr>
              <a:t> Different Drone Type</a:t>
            </a:r>
          </a:p>
        </p:txBody>
      </p:sp>
      <p:sp>
        <p:nvSpPr>
          <p:cNvPr id="11" name="Text Box 10"/>
          <p:cNvSpPr txBox="1"/>
          <p:nvPr/>
        </p:nvSpPr>
        <p:spPr>
          <a:xfrm>
            <a:off x="288925" y="173355"/>
            <a:ext cx="6096000" cy="369332"/>
          </a:xfrm>
          <a:prstGeom prst="rect">
            <a:avLst/>
          </a:prstGeom>
          <a:noFill/>
        </p:spPr>
        <p:txBody>
          <a:bodyPr wrap="square" rtlCol="0">
            <a:spAutoFit/>
          </a:bodyPr>
          <a:lstStyle/>
          <a:p>
            <a:pPr marL="0" indent="0">
              <a:spcAft>
                <a:spcPct val="60000"/>
              </a:spcAft>
            </a:pPr>
            <a:r>
              <a:rPr b="1" dirty="0">
                <a:latin typeface="Times New Roman" panose="02020603050405020304" pitchFamily="18" charset="0"/>
                <a:ea typeface="system-ui"/>
                <a:cs typeface="Times New Roman" panose="02020603050405020304" pitchFamily="18" charset="0"/>
                <a:sym typeface="+mn-ea"/>
              </a:rPr>
              <a:t>The Mean of Price </a:t>
            </a:r>
            <a:r>
              <a:rPr b="1" dirty="0" err="1">
                <a:latin typeface="Times New Roman" panose="02020603050405020304" pitchFamily="18" charset="0"/>
                <a:ea typeface="system-ui"/>
                <a:cs typeface="Times New Roman" panose="02020603050405020304" pitchFamily="18" charset="0"/>
                <a:sym typeface="+mn-ea"/>
              </a:rPr>
              <a:t>accross</a:t>
            </a:r>
            <a:r>
              <a:rPr b="1" dirty="0">
                <a:latin typeface="Times New Roman" panose="02020603050405020304" pitchFamily="18" charset="0"/>
                <a:ea typeface="system-ui"/>
                <a:cs typeface="Times New Roman" panose="02020603050405020304" pitchFamily="18" charset="0"/>
                <a:sym typeface="+mn-ea"/>
              </a:rPr>
              <a:t> Different Drone Type</a:t>
            </a:r>
            <a:endParaRPr b="1" dirty="0">
              <a:latin typeface="Times New Roman" panose="02020603050405020304" pitchFamily="18" charset="0"/>
              <a:ea typeface="system-ui"/>
              <a:cs typeface="Times New Roman" panose="02020603050405020304" pitchFamily="18" charset="0"/>
            </a:endParaRPr>
          </a:p>
        </p:txBody>
      </p:sp>
      <p:sp>
        <p:nvSpPr>
          <p:cNvPr id="5" name="TextBox 4">
            <a:extLst>
              <a:ext uri="{FF2B5EF4-FFF2-40B4-BE49-F238E27FC236}">
                <a16:creationId xmlns:a16="http://schemas.microsoft.com/office/drawing/2014/main" id="{728D9B91-2EAC-651D-34F2-A77A3A970D7D}"/>
              </a:ext>
            </a:extLst>
          </p:cNvPr>
          <p:cNvSpPr txBox="1"/>
          <p:nvPr/>
        </p:nvSpPr>
        <p:spPr>
          <a:xfrm>
            <a:off x="288925" y="3498601"/>
            <a:ext cx="3098087" cy="1643527"/>
          </a:xfrm>
          <a:prstGeom prst="rect">
            <a:avLst/>
          </a:prstGeom>
          <a:noFill/>
        </p:spPr>
        <p:txBody>
          <a:bodyPr wrap="square">
            <a:spAutoFit/>
          </a:bodyPr>
          <a:lstStyle/>
          <a:p>
            <a:pPr marL="0" indent="0">
              <a:spcAft>
                <a:spcPct val="60000"/>
              </a:spcAft>
            </a:pPr>
            <a:r>
              <a:rPr lang="en-US" b="1" dirty="0">
                <a:latin typeface="Times New Roman" panose="02020603050405020304" pitchFamily="18" charset="0"/>
                <a:ea typeface="system-ui"/>
                <a:cs typeface="Times New Roman" panose="02020603050405020304" pitchFamily="18" charset="0"/>
                <a:sym typeface="+mn-ea"/>
              </a:rPr>
              <a:t>Mini Drone has average price (3065), Professional Drone has (3290)</a:t>
            </a:r>
          </a:p>
          <a:p>
            <a:pPr marL="0" indent="0">
              <a:spcAft>
                <a:spcPct val="60000"/>
              </a:spcAft>
            </a:pPr>
            <a:r>
              <a:rPr lang="en-US" b="1" dirty="0">
                <a:latin typeface="Times New Roman" panose="02020603050405020304" pitchFamily="18" charset="0"/>
                <a:ea typeface="system-ui"/>
                <a:cs typeface="Times New Roman" panose="02020603050405020304" pitchFamily="18" charset="0"/>
                <a:sym typeface="+mn-ea"/>
              </a:rPr>
              <a:t>Professional  Drone Slightly More</a:t>
            </a:r>
            <a:endParaRPr lang="en-US" b="1" dirty="0">
              <a:latin typeface="Times New Roman" panose="02020603050405020304" pitchFamily="18" charset="0"/>
              <a:ea typeface="system-ui"/>
              <a:cs typeface="Times New Roman" panose="02020603050405020304" pitchFamily="18" charset="0"/>
            </a:endParaRPr>
          </a:p>
        </p:txBody>
      </p:sp>
      <p:sp>
        <p:nvSpPr>
          <p:cNvPr id="12" name="TextBox 11">
            <a:extLst>
              <a:ext uri="{FF2B5EF4-FFF2-40B4-BE49-F238E27FC236}">
                <a16:creationId xmlns:a16="http://schemas.microsoft.com/office/drawing/2014/main" id="{0AA4D6DC-8362-A737-04FD-87DAFD6B53BE}"/>
              </a:ext>
            </a:extLst>
          </p:cNvPr>
          <p:cNvSpPr txBox="1"/>
          <p:nvPr/>
        </p:nvSpPr>
        <p:spPr>
          <a:xfrm>
            <a:off x="3387012" y="6012406"/>
            <a:ext cx="5147526" cy="523220"/>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Mini drones show more ratings spread; professional drones have more consistently high ratings</a:t>
            </a:r>
          </a:p>
        </p:txBody>
      </p:sp>
      <p:sp>
        <p:nvSpPr>
          <p:cNvPr id="14" name="TextBox 13">
            <a:extLst>
              <a:ext uri="{FF2B5EF4-FFF2-40B4-BE49-F238E27FC236}">
                <a16:creationId xmlns:a16="http://schemas.microsoft.com/office/drawing/2014/main" id="{2CB82BD1-A44E-4F02-081B-77D3C422B7A7}"/>
              </a:ext>
            </a:extLst>
          </p:cNvPr>
          <p:cNvSpPr txBox="1"/>
          <p:nvPr/>
        </p:nvSpPr>
        <p:spPr>
          <a:xfrm>
            <a:off x="7600997" y="3592458"/>
            <a:ext cx="4403043" cy="600164"/>
          </a:xfrm>
          <a:prstGeom prst="rect">
            <a:avLst/>
          </a:prstGeom>
          <a:noFill/>
        </p:spPr>
        <p:txBody>
          <a:bodyPr wrap="square">
            <a:spAutoFit/>
          </a:bodyPr>
          <a:lstStyle/>
          <a:p>
            <a:r>
              <a:rPr lang="en-IN" sz="1500" b="1" dirty="0">
                <a:latin typeface="Times New Roman" panose="02020603050405020304" pitchFamily="18" charset="0"/>
                <a:cs typeface="Times New Roman" panose="02020603050405020304" pitchFamily="18" charset="0"/>
              </a:rPr>
              <a:t>Professional drones have double the range of mini drones</a:t>
            </a:r>
            <a:r>
              <a:rPr lang="en-IN"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sp>
        <p:nvSpPr>
          <p:cNvPr id="3" name="Text Box 2"/>
          <p:cNvSpPr txBox="1"/>
          <p:nvPr/>
        </p:nvSpPr>
        <p:spPr>
          <a:xfrm>
            <a:off x="360680" y="174685"/>
            <a:ext cx="6228080" cy="584775"/>
          </a:xfrm>
          <a:prstGeom prst="rect">
            <a:avLst/>
          </a:prstGeom>
        </p:spPr>
        <p:txBody>
          <a:bodyPr wrap="square">
            <a:spAutoFit/>
          </a:bodyPr>
          <a:lstStyle/>
          <a:p>
            <a:pPr marL="0" indent="0">
              <a:spcAft>
                <a:spcPct val="60000"/>
              </a:spcAft>
            </a:pPr>
            <a:r>
              <a:rPr lang="en-US" sz="3200" b="1" i="0" dirty="0">
                <a:latin typeface="Times New Roman" panose="02020603050405020304" pitchFamily="18" charset="0"/>
                <a:ea typeface="system-ui"/>
                <a:cs typeface="Times New Roman" panose="02020603050405020304" pitchFamily="18" charset="0"/>
              </a:rPr>
              <a:t>5. </a:t>
            </a:r>
            <a:r>
              <a:rPr sz="3200" b="1" i="0" dirty="0">
                <a:latin typeface="Times New Roman" panose="02020603050405020304" pitchFamily="18" charset="0"/>
                <a:ea typeface="system-ui"/>
                <a:cs typeface="Times New Roman" panose="02020603050405020304" pitchFamily="18" charset="0"/>
              </a:rPr>
              <a:t>Multivariate </a:t>
            </a:r>
            <a:r>
              <a:rPr lang="en-US" sz="3200" b="1" i="0" dirty="0">
                <a:latin typeface="Times New Roman" panose="02020603050405020304" pitchFamily="18" charset="0"/>
                <a:ea typeface="system-ui"/>
                <a:cs typeface="Times New Roman" panose="02020603050405020304" pitchFamily="18" charset="0"/>
              </a:rPr>
              <a:t>Analysis Step</a:t>
            </a:r>
          </a:p>
        </p:txBody>
      </p:sp>
      <p:pic>
        <p:nvPicPr>
          <p:cNvPr id="4" name="Picture 3"/>
          <p:cNvPicPr>
            <a:picLocks noChangeAspect="1"/>
          </p:cNvPicPr>
          <p:nvPr/>
        </p:nvPicPr>
        <p:blipFill>
          <a:blip r:embed="rId3"/>
          <a:stretch>
            <a:fillRect/>
          </a:stretch>
        </p:blipFill>
        <p:spPr>
          <a:xfrm>
            <a:off x="141402" y="1197293"/>
            <a:ext cx="5241303" cy="4091144"/>
          </a:xfrm>
          <a:prstGeom prst="rect">
            <a:avLst/>
          </a:prstGeom>
        </p:spPr>
      </p:pic>
      <p:sp>
        <p:nvSpPr>
          <p:cNvPr id="7" name="Text Box 6"/>
          <p:cNvSpPr txBox="1"/>
          <p:nvPr/>
        </p:nvSpPr>
        <p:spPr>
          <a:xfrm>
            <a:off x="6751320" y="467072"/>
            <a:ext cx="5080000" cy="398780"/>
          </a:xfrm>
          <a:prstGeom prst="rect">
            <a:avLst/>
          </a:prstGeom>
        </p:spPr>
        <p:txBody>
          <a:bodyPr>
            <a:spAutoFit/>
          </a:bodyPr>
          <a:lstStyle/>
          <a:p>
            <a:pPr marL="0" indent="0">
              <a:spcAft>
                <a:spcPct val="60000"/>
              </a:spcAft>
            </a:pPr>
            <a:r>
              <a:rPr sz="2000" b="1" i="0" dirty="0">
                <a:latin typeface="Times New Roman" panose="02020603050405020304" pitchFamily="18" charset="0"/>
                <a:ea typeface="system-ui"/>
                <a:cs typeface="Times New Roman" panose="02020603050405020304" pitchFamily="18" charset="0"/>
              </a:rPr>
              <a:t>Price vs Rating by Drone Type</a:t>
            </a:r>
          </a:p>
        </p:txBody>
      </p:sp>
      <p:sp>
        <p:nvSpPr>
          <p:cNvPr id="8" name="Text Box 7"/>
          <p:cNvSpPr txBox="1"/>
          <p:nvPr/>
        </p:nvSpPr>
        <p:spPr>
          <a:xfrm>
            <a:off x="1016000" y="850900"/>
            <a:ext cx="5080000" cy="369332"/>
          </a:xfrm>
          <a:prstGeom prst="rect">
            <a:avLst/>
          </a:prstGeom>
        </p:spPr>
        <p:txBody>
          <a:bodyPr>
            <a:spAutoFit/>
          </a:bodyPr>
          <a:lstStyle/>
          <a:p>
            <a:pPr marL="0" indent="0">
              <a:spcAft>
                <a:spcPct val="60000"/>
              </a:spcAft>
            </a:pPr>
            <a:r>
              <a:rPr b="1" i="0" dirty="0">
                <a:latin typeface="Times New Roman" panose="02020603050405020304" pitchFamily="18" charset="0"/>
                <a:ea typeface="system-ui"/>
                <a:cs typeface="Times New Roman" panose="02020603050405020304" pitchFamily="18" charset="0"/>
              </a:rPr>
              <a:t>Price vs Rating by Battery Type</a:t>
            </a:r>
          </a:p>
        </p:txBody>
      </p:sp>
      <p:sp>
        <p:nvSpPr>
          <p:cNvPr id="9" name="TextBox 8">
            <a:extLst>
              <a:ext uri="{FF2B5EF4-FFF2-40B4-BE49-F238E27FC236}">
                <a16:creationId xmlns:a16="http://schemas.microsoft.com/office/drawing/2014/main" id="{ED2A0DA7-31A9-DE2D-9D25-BE40BB61C309}"/>
              </a:ext>
            </a:extLst>
          </p:cNvPr>
          <p:cNvSpPr txBox="1"/>
          <p:nvPr/>
        </p:nvSpPr>
        <p:spPr>
          <a:xfrm>
            <a:off x="427506" y="5249287"/>
            <a:ext cx="4766663" cy="1077218"/>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Lithium batteries show higher ratings and cover a wide price range, while other types are mostly cheaper and less frequently rated as high. No clear price-rating trend is visible across battery types.</a:t>
            </a:r>
          </a:p>
        </p:txBody>
      </p:sp>
      <p:pic>
        <p:nvPicPr>
          <p:cNvPr id="13" name="Picture 12">
            <a:extLst>
              <a:ext uri="{FF2B5EF4-FFF2-40B4-BE49-F238E27FC236}">
                <a16:creationId xmlns:a16="http://schemas.microsoft.com/office/drawing/2014/main" id="{0B816FDF-2356-874A-1EEE-59B58C62C5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6214" y="1131216"/>
            <a:ext cx="5080000" cy="3412504"/>
          </a:xfrm>
          <a:prstGeom prst="rect">
            <a:avLst/>
          </a:prstGeom>
        </p:spPr>
      </p:pic>
      <p:sp>
        <p:nvSpPr>
          <p:cNvPr id="15" name="TextBox 14">
            <a:extLst>
              <a:ext uri="{FF2B5EF4-FFF2-40B4-BE49-F238E27FC236}">
                <a16:creationId xmlns:a16="http://schemas.microsoft.com/office/drawing/2014/main" id="{079CAE51-5D89-EB34-0D1A-441EFBDD59EC}"/>
              </a:ext>
            </a:extLst>
          </p:cNvPr>
          <p:cNvSpPr txBox="1"/>
          <p:nvPr/>
        </p:nvSpPr>
        <p:spPr>
          <a:xfrm>
            <a:off x="6647469" y="4809084"/>
            <a:ext cx="5544531"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Most drones are light with short ranges; no clear weight-range trend.</a:t>
            </a:r>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3891" y="935990"/>
            <a:ext cx="4634230" cy="3515360"/>
          </a:xfrm>
          <a:prstGeom prst="rect">
            <a:avLst/>
          </a:prstGeom>
        </p:spPr>
      </p:pic>
      <p:pic>
        <p:nvPicPr>
          <p:cNvPr id="2" name="Picture 1"/>
          <p:cNvPicPr>
            <a:picLocks noChangeAspect="1"/>
          </p:cNvPicPr>
          <p:nvPr/>
        </p:nvPicPr>
        <p:blipFill>
          <a:blip r:embed="rId3"/>
          <a:stretch>
            <a:fillRect/>
          </a:stretch>
        </p:blipFill>
        <p:spPr>
          <a:xfrm>
            <a:off x="8436688" y="6098632"/>
            <a:ext cx="3755312" cy="759368"/>
          </a:xfrm>
          <a:prstGeom prst="rect">
            <a:avLst/>
          </a:prstGeom>
        </p:spPr>
      </p:pic>
      <p:pic>
        <p:nvPicPr>
          <p:cNvPr id="6" name="Picture 5"/>
          <p:cNvPicPr>
            <a:picLocks noChangeAspect="1"/>
          </p:cNvPicPr>
          <p:nvPr/>
        </p:nvPicPr>
        <p:blipFill>
          <a:blip r:embed="rId4"/>
          <a:stretch>
            <a:fillRect/>
          </a:stretch>
        </p:blipFill>
        <p:spPr>
          <a:xfrm>
            <a:off x="5442427" y="910498"/>
            <a:ext cx="6256236" cy="4039870"/>
          </a:xfrm>
          <a:prstGeom prst="rect">
            <a:avLst/>
          </a:prstGeom>
        </p:spPr>
      </p:pic>
      <p:sp>
        <p:nvSpPr>
          <p:cNvPr id="7" name="Text Box 6"/>
          <p:cNvSpPr txBox="1"/>
          <p:nvPr/>
        </p:nvSpPr>
        <p:spPr>
          <a:xfrm>
            <a:off x="362427" y="541166"/>
            <a:ext cx="5080000" cy="369332"/>
          </a:xfrm>
          <a:prstGeom prst="rect">
            <a:avLst/>
          </a:prstGeom>
        </p:spPr>
        <p:txBody>
          <a:bodyPr>
            <a:spAutoFit/>
          </a:bodyPr>
          <a:lstStyle/>
          <a:p>
            <a:pPr marL="0" indent="0">
              <a:spcAft>
                <a:spcPct val="60000"/>
              </a:spcAft>
            </a:pPr>
            <a:r>
              <a:rPr b="1" i="0" dirty="0">
                <a:latin typeface="Times New Roman" panose="02020603050405020304" pitchFamily="18" charset="0"/>
                <a:ea typeface="system-ui"/>
                <a:cs typeface="Times New Roman" panose="02020603050405020304" pitchFamily="18" charset="0"/>
              </a:rPr>
              <a:t>Price Distribution by Drone Type</a:t>
            </a:r>
          </a:p>
        </p:txBody>
      </p:sp>
      <p:sp>
        <p:nvSpPr>
          <p:cNvPr id="8" name="Text Box 7"/>
          <p:cNvSpPr txBox="1"/>
          <p:nvPr/>
        </p:nvSpPr>
        <p:spPr>
          <a:xfrm>
            <a:off x="6241919" y="541166"/>
            <a:ext cx="5706110" cy="323165"/>
          </a:xfrm>
          <a:prstGeom prst="rect">
            <a:avLst/>
          </a:prstGeom>
        </p:spPr>
        <p:txBody>
          <a:bodyPr wrap="square">
            <a:spAutoFit/>
          </a:bodyPr>
          <a:lstStyle/>
          <a:p>
            <a:pPr marL="0" indent="0">
              <a:spcAft>
                <a:spcPct val="60000"/>
              </a:spcAft>
            </a:pPr>
            <a:r>
              <a:rPr sz="1500" b="1" i="0" dirty="0">
                <a:latin typeface="Times New Roman" panose="02020603050405020304" pitchFamily="18" charset="0"/>
                <a:ea typeface="system-ui"/>
                <a:cs typeface="Times New Roman" panose="02020603050405020304" pitchFamily="18" charset="0"/>
              </a:rPr>
              <a:t>The Mean of Price </a:t>
            </a:r>
            <a:r>
              <a:rPr sz="1500" b="1" i="0" dirty="0" err="1">
                <a:latin typeface="Times New Roman" panose="02020603050405020304" pitchFamily="18" charset="0"/>
                <a:ea typeface="system-ui"/>
                <a:cs typeface="Times New Roman" panose="02020603050405020304" pitchFamily="18" charset="0"/>
              </a:rPr>
              <a:t>accross</a:t>
            </a:r>
            <a:r>
              <a:rPr sz="1500" b="1" i="0" dirty="0">
                <a:latin typeface="Times New Roman" panose="02020603050405020304" pitchFamily="18" charset="0"/>
                <a:ea typeface="system-ui"/>
                <a:cs typeface="Times New Roman" panose="02020603050405020304" pitchFamily="18" charset="0"/>
              </a:rPr>
              <a:t> Different Battery Type</a:t>
            </a:r>
          </a:p>
        </p:txBody>
      </p:sp>
      <p:sp>
        <p:nvSpPr>
          <p:cNvPr id="5" name="TextBox 4">
            <a:extLst>
              <a:ext uri="{FF2B5EF4-FFF2-40B4-BE49-F238E27FC236}">
                <a16:creationId xmlns:a16="http://schemas.microsoft.com/office/drawing/2014/main" id="{86ED77FD-87E1-A46E-D327-8649D003C761}"/>
              </a:ext>
            </a:extLst>
          </p:cNvPr>
          <p:cNvSpPr txBox="1"/>
          <p:nvPr/>
        </p:nvSpPr>
        <p:spPr>
          <a:xfrm>
            <a:off x="490220" y="4592150"/>
            <a:ext cx="4402291" cy="1754326"/>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Most drones are priced between ₹1500–₹3000, as this range shows the highest count in the distribution.</a:t>
            </a:r>
          </a:p>
          <a:p>
            <a:r>
              <a:rPr lang="en-US" b="1" dirty="0">
                <a:latin typeface="Times New Roman" panose="02020603050405020304" pitchFamily="18" charset="0"/>
                <a:cs typeface="Times New Roman" panose="02020603050405020304" pitchFamily="18" charset="0"/>
              </a:rPr>
              <a:t>Mini drones making up the highest count in this price range.</a:t>
            </a:r>
            <a:endParaRPr lang="en-US" sz="1800" b="1"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1719980-C2FE-0333-B19A-371EA538FCD4}"/>
              </a:ext>
            </a:extLst>
          </p:cNvPr>
          <p:cNvSpPr txBox="1"/>
          <p:nvPr/>
        </p:nvSpPr>
        <p:spPr>
          <a:xfrm>
            <a:off x="5931817" y="4950368"/>
            <a:ext cx="6094428" cy="584775"/>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Drones with AAA Alkaline and AA batteries are the most expensive; AAA and AA rechargeable are the cheapest.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436688" y="6098632"/>
            <a:ext cx="3755312" cy="759368"/>
          </a:xfrm>
          <a:prstGeom prst="rect">
            <a:avLst/>
          </a:prstGeom>
        </p:spPr>
      </p:pic>
      <p:pic>
        <p:nvPicPr>
          <p:cNvPr id="6" name="Picture 5"/>
          <p:cNvPicPr>
            <a:picLocks noChangeAspect="1"/>
          </p:cNvPicPr>
          <p:nvPr/>
        </p:nvPicPr>
        <p:blipFill>
          <a:blip r:embed="rId4"/>
          <a:stretch>
            <a:fillRect/>
          </a:stretch>
        </p:blipFill>
        <p:spPr>
          <a:xfrm>
            <a:off x="237490" y="791925"/>
            <a:ext cx="5059045" cy="4301490"/>
          </a:xfrm>
          <a:prstGeom prst="rect">
            <a:avLst/>
          </a:prstGeom>
        </p:spPr>
      </p:pic>
      <p:pic>
        <p:nvPicPr>
          <p:cNvPr id="4" name="Picture 3"/>
          <p:cNvPicPr>
            <a:picLocks noChangeAspect="1"/>
          </p:cNvPicPr>
          <p:nvPr/>
        </p:nvPicPr>
        <p:blipFill>
          <a:blip r:embed="rId5"/>
          <a:stretch>
            <a:fillRect/>
          </a:stretch>
        </p:blipFill>
        <p:spPr>
          <a:xfrm>
            <a:off x="5606998" y="750470"/>
            <a:ext cx="6194425" cy="4587875"/>
          </a:xfrm>
          <a:prstGeom prst="rect">
            <a:avLst/>
          </a:prstGeom>
        </p:spPr>
      </p:pic>
      <p:sp>
        <p:nvSpPr>
          <p:cNvPr id="5" name="Text Box 4"/>
          <p:cNvSpPr txBox="1"/>
          <p:nvPr/>
        </p:nvSpPr>
        <p:spPr>
          <a:xfrm>
            <a:off x="5986780" y="99427"/>
            <a:ext cx="5957570" cy="646331"/>
          </a:xfrm>
          <a:prstGeom prst="rect">
            <a:avLst/>
          </a:prstGeom>
        </p:spPr>
        <p:txBody>
          <a:bodyPr wrap="square">
            <a:spAutoFit/>
          </a:bodyPr>
          <a:lstStyle/>
          <a:p>
            <a:pPr marL="0" indent="0">
              <a:spcAft>
                <a:spcPct val="60000"/>
              </a:spcAft>
            </a:pPr>
            <a:r>
              <a:rPr b="1" i="0" dirty="0">
                <a:latin typeface="Times New Roman" panose="02020603050405020304" pitchFamily="18" charset="0"/>
                <a:ea typeface="system-ui"/>
                <a:cs typeface="Times New Roman" panose="02020603050405020304" pitchFamily="18" charset="0"/>
              </a:rPr>
              <a:t>The Mean of Range </a:t>
            </a:r>
            <a:r>
              <a:rPr b="1" i="0" dirty="0" err="1">
                <a:latin typeface="Times New Roman" panose="02020603050405020304" pitchFamily="18" charset="0"/>
                <a:ea typeface="system-ui"/>
                <a:cs typeface="Times New Roman" panose="02020603050405020304" pitchFamily="18" charset="0"/>
              </a:rPr>
              <a:t>accross</a:t>
            </a:r>
            <a:r>
              <a:rPr b="1" i="0" dirty="0">
                <a:latin typeface="Times New Roman" panose="02020603050405020304" pitchFamily="18" charset="0"/>
                <a:ea typeface="system-ui"/>
                <a:cs typeface="Times New Roman" panose="02020603050405020304" pitchFamily="18" charset="0"/>
              </a:rPr>
              <a:t> Different Drone Type By Battery Type</a:t>
            </a:r>
          </a:p>
        </p:txBody>
      </p:sp>
      <p:sp>
        <p:nvSpPr>
          <p:cNvPr id="7" name="Text Box 6"/>
          <p:cNvSpPr txBox="1"/>
          <p:nvPr/>
        </p:nvSpPr>
        <p:spPr>
          <a:xfrm>
            <a:off x="247650" y="422593"/>
            <a:ext cx="5080000" cy="369332"/>
          </a:xfrm>
          <a:prstGeom prst="rect">
            <a:avLst/>
          </a:prstGeom>
        </p:spPr>
        <p:txBody>
          <a:bodyPr>
            <a:spAutoFit/>
          </a:bodyPr>
          <a:lstStyle/>
          <a:p>
            <a:pPr marL="0" indent="0">
              <a:spcAft>
                <a:spcPct val="60000"/>
              </a:spcAft>
            </a:pPr>
            <a:r>
              <a:rPr b="1" i="0" dirty="0">
                <a:latin typeface="Times New Roman" panose="02020603050405020304" pitchFamily="18" charset="0"/>
                <a:ea typeface="system-ui"/>
                <a:cs typeface="Times New Roman" panose="02020603050405020304" pitchFamily="18" charset="0"/>
              </a:rPr>
              <a:t>Correlation between Num</a:t>
            </a:r>
            <a:r>
              <a:rPr lang="en-IN" b="1" i="0" dirty="0">
                <a:latin typeface="Times New Roman" panose="02020603050405020304" pitchFamily="18" charset="0"/>
                <a:ea typeface="system-ui"/>
                <a:cs typeface="Times New Roman" panose="02020603050405020304" pitchFamily="18" charset="0"/>
              </a:rPr>
              <a:t>e</a:t>
            </a:r>
            <a:r>
              <a:rPr b="1" i="0" dirty="0" err="1">
                <a:latin typeface="Times New Roman" panose="02020603050405020304" pitchFamily="18" charset="0"/>
                <a:ea typeface="system-ui"/>
                <a:cs typeface="Times New Roman" panose="02020603050405020304" pitchFamily="18" charset="0"/>
              </a:rPr>
              <a:t>ri</a:t>
            </a:r>
            <a:r>
              <a:rPr lang="en-IN" b="1" i="0" dirty="0" err="1">
                <a:latin typeface="Times New Roman" panose="02020603050405020304" pitchFamily="18" charset="0"/>
                <a:ea typeface="system-ui"/>
                <a:cs typeface="Times New Roman" panose="02020603050405020304" pitchFamily="18" charset="0"/>
              </a:rPr>
              <a:t>cal</a:t>
            </a:r>
            <a:r>
              <a:rPr b="1" i="0" dirty="0">
                <a:latin typeface="Times New Roman" panose="02020603050405020304" pitchFamily="18" charset="0"/>
                <a:ea typeface="system-ui"/>
                <a:cs typeface="Times New Roman" panose="02020603050405020304" pitchFamily="18" charset="0"/>
              </a:rPr>
              <a:t> Columns</a:t>
            </a:r>
          </a:p>
        </p:txBody>
      </p:sp>
      <p:sp>
        <p:nvSpPr>
          <p:cNvPr id="8" name="TextBox 7">
            <a:extLst>
              <a:ext uri="{FF2B5EF4-FFF2-40B4-BE49-F238E27FC236}">
                <a16:creationId xmlns:a16="http://schemas.microsoft.com/office/drawing/2014/main" id="{AA9FF108-81EE-2F2E-A1AA-6E412E3398F2}"/>
              </a:ext>
            </a:extLst>
          </p:cNvPr>
          <p:cNvSpPr txBox="1"/>
          <p:nvPr/>
        </p:nvSpPr>
        <p:spPr>
          <a:xfrm>
            <a:off x="171502" y="5170359"/>
            <a:ext cx="6094428" cy="584775"/>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The strongest negative correlation is between price and offer percentage; higher offers tend to come with lower prices.</a:t>
            </a:r>
          </a:p>
        </p:txBody>
      </p:sp>
      <p:sp>
        <p:nvSpPr>
          <p:cNvPr id="10" name="TextBox 9">
            <a:extLst>
              <a:ext uri="{FF2B5EF4-FFF2-40B4-BE49-F238E27FC236}">
                <a16:creationId xmlns:a16="http://schemas.microsoft.com/office/drawing/2014/main" id="{6C1AED01-33DE-DF1A-359A-E7E4B91901A4}"/>
              </a:ext>
            </a:extLst>
          </p:cNvPr>
          <p:cNvSpPr txBox="1"/>
          <p:nvPr/>
        </p:nvSpPr>
        <p:spPr>
          <a:xfrm>
            <a:off x="6340496" y="5254352"/>
            <a:ext cx="5603854" cy="584775"/>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Professional drones with AA Alkaline batteries have the highest range by far—348 meters.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36688" y="6098632"/>
            <a:ext cx="3755312" cy="759368"/>
          </a:xfrm>
          <a:prstGeom prst="rect">
            <a:avLst/>
          </a:prstGeom>
        </p:spPr>
      </p:pic>
      <p:pic>
        <p:nvPicPr>
          <p:cNvPr id="4" name="Picture 3"/>
          <p:cNvPicPr>
            <a:picLocks noChangeAspect="1"/>
          </p:cNvPicPr>
          <p:nvPr/>
        </p:nvPicPr>
        <p:blipFill>
          <a:blip r:embed="rId3"/>
          <a:stretch>
            <a:fillRect/>
          </a:stretch>
        </p:blipFill>
        <p:spPr>
          <a:xfrm>
            <a:off x="262891" y="1209989"/>
            <a:ext cx="5063254" cy="3825521"/>
          </a:xfrm>
          <a:prstGeom prst="rect">
            <a:avLst/>
          </a:prstGeom>
        </p:spPr>
      </p:pic>
      <p:pic>
        <p:nvPicPr>
          <p:cNvPr id="5" name="Picture 4"/>
          <p:cNvPicPr>
            <a:picLocks noChangeAspect="1"/>
          </p:cNvPicPr>
          <p:nvPr/>
        </p:nvPicPr>
        <p:blipFill>
          <a:blip r:embed="rId4"/>
          <a:stretch>
            <a:fillRect/>
          </a:stretch>
        </p:blipFill>
        <p:spPr>
          <a:xfrm>
            <a:off x="6023728" y="1036955"/>
            <a:ext cx="5420412" cy="3998555"/>
          </a:xfrm>
          <a:prstGeom prst="rect">
            <a:avLst/>
          </a:prstGeom>
        </p:spPr>
      </p:pic>
      <p:sp>
        <p:nvSpPr>
          <p:cNvPr id="6" name="Text Box 5"/>
          <p:cNvSpPr txBox="1"/>
          <p:nvPr/>
        </p:nvSpPr>
        <p:spPr>
          <a:xfrm>
            <a:off x="6316345" y="330200"/>
            <a:ext cx="5578475" cy="706755"/>
          </a:xfrm>
          <a:prstGeom prst="rect">
            <a:avLst/>
          </a:prstGeom>
        </p:spPr>
        <p:txBody>
          <a:bodyPr wrap="square">
            <a:spAutoFit/>
          </a:bodyPr>
          <a:lstStyle/>
          <a:p>
            <a:pPr marL="0" indent="0">
              <a:spcAft>
                <a:spcPct val="60000"/>
              </a:spcAft>
            </a:pPr>
            <a:r>
              <a:rPr sz="2000" b="1" i="0" dirty="0">
                <a:latin typeface="Times New Roman" panose="02020603050405020304" pitchFamily="18" charset="0"/>
                <a:ea typeface="system-ui"/>
                <a:cs typeface="Times New Roman" panose="02020603050405020304" pitchFamily="18" charset="0"/>
              </a:rPr>
              <a:t>The Mean of Weight </a:t>
            </a:r>
            <a:r>
              <a:rPr sz="2000" b="1" i="0" dirty="0" err="1">
                <a:latin typeface="Times New Roman" panose="02020603050405020304" pitchFamily="18" charset="0"/>
                <a:ea typeface="system-ui"/>
                <a:cs typeface="Times New Roman" panose="02020603050405020304" pitchFamily="18" charset="0"/>
              </a:rPr>
              <a:t>accross</a:t>
            </a:r>
            <a:r>
              <a:rPr sz="2000" b="1" i="0" dirty="0">
                <a:latin typeface="Times New Roman" panose="02020603050405020304" pitchFamily="18" charset="0"/>
                <a:ea typeface="system-ui"/>
                <a:cs typeface="Times New Roman" panose="02020603050405020304" pitchFamily="18" charset="0"/>
              </a:rPr>
              <a:t> Different Battery Type By Drone Type</a:t>
            </a:r>
          </a:p>
        </p:txBody>
      </p:sp>
      <p:sp>
        <p:nvSpPr>
          <p:cNvPr id="7" name="Text Box 6"/>
          <p:cNvSpPr txBox="1"/>
          <p:nvPr/>
        </p:nvSpPr>
        <p:spPr>
          <a:xfrm>
            <a:off x="262890" y="330200"/>
            <a:ext cx="5609590" cy="706755"/>
          </a:xfrm>
          <a:prstGeom prst="rect">
            <a:avLst/>
          </a:prstGeom>
        </p:spPr>
        <p:txBody>
          <a:bodyPr wrap="square">
            <a:spAutoFit/>
          </a:bodyPr>
          <a:lstStyle/>
          <a:p>
            <a:pPr marL="0" indent="0">
              <a:spcAft>
                <a:spcPct val="60000"/>
              </a:spcAft>
            </a:pPr>
            <a:r>
              <a:rPr sz="2000" b="1" i="0">
                <a:latin typeface="Times New Roman" panose="02020603050405020304" pitchFamily="18" charset="0"/>
                <a:ea typeface="system-ui"/>
                <a:cs typeface="Times New Roman" panose="02020603050405020304" pitchFamily="18" charset="0"/>
              </a:rPr>
              <a:t>The Mean of Price accross Different Battery Type By Drone Type</a:t>
            </a:r>
          </a:p>
        </p:txBody>
      </p:sp>
      <p:sp>
        <p:nvSpPr>
          <p:cNvPr id="8" name="TextBox 7">
            <a:extLst>
              <a:ext uri="{FF2B5EF4-FFF2-40B4-BE49-F238E27FC236}">
                <a16:creationId xmlns:a16="http://schemas.microsoft.com/office/drawing/2014/main" id="{62A91BA1-8AB3-B5C4-1377-F149CFCCF1C2}"/>
              </a:ext>
            </a:extLst>
          </p:cNvPr>
          <p:cNvSpPr txBox="1"/>
          <p:nvPr/>
        </p:nvSpPr>
        <p:spPr>
          <a:xfrm>
            <a:off x="454297" y="5208544"/>
            <a:ext cx="5226776" cy="830997"/>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Mini drones with AA batteries cost the most (₹7124); professional drones with AA Alkaline are the priciest among professionals (₹6133).</a:t>
            </a:r>
          </a:p>
        </p:txBody>
      </p:sp>
      <p:sp>
        <p:nvSpPr>
          <p:cNvPr id="10" name="TextBox 9">
            <a:extLst>
              <a:ext uri="{FF2B5EF4-FFF2-40B4-BE49-F238E27FC236}">
                <a16:creationId xmlns:a16="http://schemas.microsoft.com/office/drawing/2014/main" id="{60D5857C-7CEB-721A-8C63-74009F7C924D}"/>
              </a:ext>
            </a:extLst>
          </p:cNvPr>
          <p:cNvSpPr txBox="1"/>
          <p:nvPr/>
        </p:nvSpPr>
        <p:spPr>
          <a:xfrm>
            <a:off x="6023728" y="5157490"/>
            <a:ext cx="5713975" cy="584775"/>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Professional drones using AA rechargeable batteries have extremely high average weight compared to all other types.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793482-750E-C350-467F-DF06AA0ED757}"/>
              </a:ext>
            </a:extLst>
          </p:cNvPr>
          <p:cNvSpPr txBox="1"/>
          <p:nvPr/>
        </p:nvSpPr>
        <p:spPr>
          <a:xfrm>
            <a:off x="1161852" y="1307433"/>
            <a:ext cx="9697826" cy="3847207"/>
          </a:xfrm>
          <a:prstGeom prst="rect">
            <a:avLst/>
          </a:prstGeom>
          <a:noFill/>
        </p:spPr>
        <p:txBody>
          <a:bodyPr wrap="square">
            <a:spAutoFit/>
          </a:bodyPr>
          <a:lstStyle/>
          <a:p>
            <a:endParaRPr lang="en-IN" sz="20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Battery Analysis </a:t>
            </a:r>
            <a:r>
              <a:rPr lang="en-IN" sz="2000" dirty="0">
                <a:latin typeface="Times New Roman" panose="02020603050405020304" pitchFamily="18" charset="0"/>
                <a:cs typeface="Times New Roman" panose="02020603050405020304" pitchFamily="18" charset="0"/>
              </a:rPr>
              <a:t>: Lithium batteries consistently receive higher ratings compared to other battery types. The rating of batteries does not increase with price, meaning you can find both high- and low-rated batteries across different price points.</a:t>
            </a:r>
          </a:p>
          <a:p>
            <a:endParaRPr lang="en-IN" sz="20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Drone Analysis </a:t>
            </a:r>
            <a:r>
              <a:rPr lang="en-IN" sz="2000" dirty="0">
                <a:latin typeface="Times New Roman" panose="02020603050405020304" pitchFamily="18" charset="0"/>
                <a:cs typeface="Times New Roman" panose="02020603050405020304" pitchFamily="18" charset="0"/>
              </a:rPr>
              <a:t>: Most drones, whether mini or professional, are lightweight and have a shorter operating range. There is no strong pattern where drones with greater weight automatically have a longer range; both light and heavy drones can have short or long ranges.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the main performance indicator (rating for batteries and range for drones) does not strongly depend on the price or weight variable, showing that other factors may need to be considered when choosing products in these categories.</a:t>
            </a:r>
          </a:p>
        </p:txBody>
      </p:sp>
      <p:sp>
        <p:nvSpPr>
          <p:cNvPr id="5" name="TextBox 4">
            <a:extLst>
              <a:ext uri="{FF2B5EF4-FFF2-40B4-BE49-F238E27FC236}">
                <a16:creationId xmlns:a16="http://schemas.microsoft.com/office/drawing/2014/main" id="{E764E523-5E3E-B506-44E0-FA569536D7BE}"/>
              </a:ext>
            </a:extLst>
          </p:cNvPr>
          <p:cNvSpPr txBox="1"/>
          <p:nvPr/>
        </p:nvSpPr>
        <p:spPr>
          <a:xfrm>
            <a:off x="577392" y="313294"/>
            <a:ext cx="6094428" cy="553998"/>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Summary </a:t>
            </a:r>
          </a:p>
        </p:txBody>
      </p:sp>
      <p:pic>
        <p:nvPicPr>
          <p:cNvPr id="6" name="Picture 5">
            <a:extLst>
              <a:ext uri="{FF2B5EF4-FFF2-40B4-BE49-F238E27FC236}">
                <a16:creationId xmlns:a16="http://schemas.microsoft.com/office/drawing/2014/main" id="{2ACDA621-4F90-10F3-EFE8-23BF8C9BD0B0}"/>
              </a:ext>
            </a:extLst>
          </p:cNvPr>
          <p:cNvPicPr>
            <a:picLocks noChangeAspect="1"/>
          </p:cNvPicPr>
          <p:nvPr/>
        </p:nvPicPr>
        <p:blipFill>
          <a:blip r:embed="rId2"/>
          <a:stretch>
            <a:fillRect/>
          </a:stretch>
        </p:blipFill>
        <p:spPr>
          <a:xfrm>
            <a:off x="8182164" y="5853535"/>
            <a:ext cx="3755312" cy="759368"/>
          </a:xfrm>
          <a:prstGeom prst="rect">
            <a:avLst/>
          </a:prstGeom>
        </p:spPr>
      </p:pic>
    </p:spTree>
    <p:extLst>
      <p:ext uri="{BB962C8B-B14F-4D97-AF65-F5344CB8AC3E}">
        <p14:creationId xmlns:p14="http://schemas.microsoft.com/office/powerpoint/2010/main" val="1126107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165609" y="2147800"/>
            <a:ext cx="6750460"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Arial" panose="020B0604020202020204" pitchFamily="34" charset="0"/>
              </a:rPr>
              <a:t> </a:t>
            </a:r>
            <a:br>
              <a:rPr kumimoji="0" lang="en-US" altLang="en-US" b="0" i="0" u="none" strike="noStrike" cap="none" normalizeH="0" baseline="0" dirty="0">
                <a:ln>
                  <a:noFill/>
                </a:ln>
                <a:solidFill>
                  <a:schemeClr val="tx1"/>
                </a:solidFill>
                <a:effectLst/>
                <a:latin typeface="Arial" panose="020B060402020202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4400" b="0" i="0" u="none" strike="noStrike" cap="none" normalizeH="0" baseline="0" dirty="0">
                <a:ln>
                  <a:noFill/>
                </a:ln>
                <a:solidFill>
                  <a:srgbClr val="C00000"/>
                </a:solidFill>
                <a:effectLst/>
                <a:latin typeface="Libre Baskerville" panose="020F0502020204030204" pitchFamily="2" charset="0"/>
              </a:rPr>
              <a:t>THANK YOU</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br>
              <a:rPr kumimoji="0" lang="en-US" altLang="en-US" b="0" i="0" u="none" strike="noStrike" cap="none" normalizeH="0" baseline="0" dirty="0">
                <a:ln>
                  <a:noFill/>
                </a:ln>
                <a:solidFill>
                  <a:schemeClr val="tx1"/>
                </a:solidFill>
                <a:effectLst/>
                <a:latin typeface="Arial" panose="020B060402020202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3545" y="1226532"/>
            <a:ext cx="5861040" cy="37199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8436688" y="6098632"/>
            <a:ext cx="3755312" cy="759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908</Words>
  <Application>Microsoft Office PowerPoint</Application>
  <PresentationFormat>Widescreen</PresentationFormat>
  <Paragraphs>85</Paragraphs>
  <Slides>14</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Calibri</vt:lpstr>
      <vt:lpstr>Calibri Light</vt:lpstr>
      <vt:lpstr>Libre Baskerville</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venky.el29.2000@outlook.com</dc:creator>
  <cp:lastModifiedBy>Anand B</cp:lastModifiedBy>
  <cp:revision>7</cp:revision>
  <dcterms:created xsi:type="dcterms:W3CDTF">2025-11-06T10:25:00Z</dcterms:created>
  <dcterms:modified xsi:type="dcterms:W3CDTF">2025-11-07T11:03:37Z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4276F73413F3470FA55A8A321766B255_12</vt:lpwstr>
  </property>
  <property fmtid="{D5CDD505-2E9C-101B-9397-08002B2CF9AE}" pid="3" name="KSOProductBuildVer">
    <vt:lpwstr>1033-12.2.0.23155</vt:lpwstr>
  </property>
</Properties>
</file>